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Montserrat Ultra-Bold" charset="1" panose="00000900000000000000"/>
      <p:regular r:id="rId34"/>
    </p:embeddedFont>
    <p:embeddedFont>
      <p:font typeface="Montserrat" charset="1" panose="00000500000000000000"/>
      <p:regular r:id="rId35"/>
    </p:embeddedFont>
    <p:embeddedFont>
      <p:font typeface="Montserrat Bold" charset="1" panose="00000800000000000000"/>
      <p:regular r:id="rId36"/>
    </p:embeddedFont>
    <p:embeddedFont>
      <p:font typeface="TT Hoves Bold" charset="1" panose="02000003020000060003"/>
      <p:regular r:id="rId37"/>
    </p:embeddedFont>
    <p:embeddedFont>
      <p:font typeface="Inter Bold" charset="1" panose="02000503000000020004"/>
      <p:regular r:id="rId38"/>
    </p:embeddedFont>
    <p:embeddedFont>
      <p:font typeface="Inter Ultra-Bold" charset="1" panose="02000503000000020004"/>
      <p:regular r:id="rId39"/>
    </p:embeddedFont>
    <p:embeddedFont>
      <p:font typeface="Inter" charset="1" panose="02000503000000020004"/>
      <p:regular r:id="rId40"/>
    </p:embeddedFont>
    <p:embeddedFont>
      <p:font typeface="Inter Italics" charset="1" panose="02000503000000020004"/>
      <p:regular r:id="rId41"/>
    </p:embeddedFont>
    <p:embeddedFont>
      <p:font typeface="Inter Bold Italics" charset="1" panose="020005030000000200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144000" y="1438761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4" y="0"/>
                </a:lnTo>
                <a:lnTo>
                  <a:pt x="9336114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346035" y="2344404"/>
            <a:ext cx="15131427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PHÂN TÍCH - PHÂN LOẠI CẢM XÚC BÁO CÁO TÀI CHÍNH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36955" y="8526560"/>
            <a:ext cx="5569455" cy="1009405"/>
            <a:chOff x="0" y="0"/>
            <a:chExt cx="1297363" cy="235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7363" cy="235133"/>
            </a:xfrm>
            <a:custGeom>
              <a:avLst/>
              <a:gdLst/>
              <a:ahLst/>
              <a:cxnLst/>
              <a:rect r="r" b="b" t="t" l="l"/>
              <a:pathLst>
                <a:path h="235133" w="1297363">
                  <a:moveTo>
                    <a:pt x="117567" y="0"/>
                  </a:moveTo>
                  <a:lnTo>
                    <a:pt x="1179796" y="0"/>
                  </a:lnTo>
                  <a:cubicBezTo>
                    <a:pt x="1244727" y="0"/>
                    <a:pt x="1297363" y="52636"/>
                    <a:pt x="1297363" y="117567"/>
                  </a:cubicBezTo>
                  <a:lnTo>
                    <a:pt x="1297363" y="117567"/>
                  </a:lnTo>
                  <a:cubicBezTo>
                    <a:pt x="1297363" y="182497"/>
                    <a:pt x="1244727" y="235133"/>
                    <a:pt x="1179796" y="235133"/>
                  </a:cubicBezTo>
                  <a:lnTo>
                    <a:pt x="117567" y="235133"/>
                  </a:lnTo>
                  <a:cubicBezTo>
                    <a:pt x="52636" y="235133"/>
                    <a:pt x="0" y="182497"/>
                    <a:pt x="0" y="117567"/>
                  </a:cubicBezTo>
                  <a:lnTo>
                    <a:pt x="0" y="117567"/>
                  </a:lnTo>
                  <a:cubicBezTo>
                    <a:pt x="0" y="52636"/>
                    <a:pt x="52636" y="0"/>
                    <a:pt x="117567" y="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97363" cy="28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 spc="112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Giảng viên hướng dẫn:</a:t>
              </a:r>
            </a:p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12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Nguyễn Hồ Duy Trí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46035" y="4548456"/>
            <a:ext cx="12715260" cy="148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b="true" sz="57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SỬ DỤNG DEEP LEARNING MODELS &amp; FINE-TUNING LLMS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21420" y="260834"/>
            <a:ext cx="4554871" cy="40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799" spc="109" b="tru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Dữ liệu lớn - </a:t>
            </a:r>
            <a:r>
              <a:rPr lang="en-US" b="true" sz="2799" spc="109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IS405.Q23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27605" y="1171294"/>
            <a:ext cx="540836" cy="534936"/>
          </a:xfrm>
          <a:custGeom>
            <a:avLst/>
            <a:gdLst/>
            <a:ahLst/>
            <a:cxnLst/>
            <a:rect r="r" b="b" t="t" l="l"/>
            <a:pathLst>
              <a:path h="534936" w="540836">
                <a:moveTo>
                  <a:pt x="0" y="0"/>
                </a:moveTo>
                <a:lnTo>
                  <a:pt x="540835" y="0"/>
                </a:lnTo>
                <a:lnTo>
                  <a:pt x="540835" y="534935"/>
                </a:lnTo>
                <a:lnTo>
                  <a:pt x="0" y="534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95826" y="8526560"/>
            <a:ext cx="2724755" cy="1009405"/>
            <a:chOff x="0" y="0"/>
            <a:chExt cx="634711" cy="2351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4711" cy="235133"/>
            </a:xfrm>
            <a:custGeom>
              <a:avLst/>
              <a:gdLst/>
              <a:ahLst/>
              <a:cxnLst/>
              <a:rect r="r" b="b" t="t" l="l"/>
              <a:pathLst>
                <a:path h="235133" w="634711">
                  <a:moveTo>
                    <a:pt x="117567" y="0"/>
                  </a:moveTo>
                  <a:lnTo>
                    <a:pt x="517145" y="0"/>
                  </a:lnTo>
                  <a:cubicBezTo>
                    <a:pt x="582075" y="0"/>
                    <a:pt x="634711" y="52636"/>
                    <a:pt x="634711" y="117567"/>
                  </a:cubicBezTo>
                  <a:lnTo>
                    <a:pt x="634711" y="117567"/>
                  </a:lnTo>
                  <a:cubicBezTo>
                    <a:pt x="634711" y="182497"/>
                    <a:pt x="582075" y="235133"/>
                    <a:pt x="517145" y="235133"/>
                  </a:cubicBezTo>
                  <a:lnTo>
                    <a:pt x="117567" y="235133"/>
                  </a:lnTo>
                  <a:cubicBezTo>
                    <a:pt x="52636" y="235133"/>
                    <a:pt x="0" y="182497"/>
                    <a:pt x="0" y="117567"/>
                  </a:cubicBezTo>
                  <a:lnTo>
                    <a:pt x="0" y="117567"/>
                  </a:lnTo>
                  <a:cubicBezTo>
                    <a:pt x="0" y="52636"/>
                    <a:pt x="52636" y="0"/>
                    <a:pt x="117567" y="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4711" cy="28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 spc="112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Trình bày:</a:t>
              </a:r>
            </a:p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12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Nhóm 18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8442" y="8730296"/>
            <a:ext cx="600858" cy="528004"/>
          </a:xfrm>
          <a:custGeom>
            <a:avLst/>
            <a:gdLst/>
            <a:ahLst/>
            <a:cxnLst/>
            <a:rect r="r" b="b" t="t" l="l"/>
            <a:pathLst>
              <a:path h="528004" w="600858">
                <a:moveTo>
                  <a:pt x="0" y="0"/>
                </a:moveTo>
                <a:lnTo>
                  <a:pt x="600858" y="0"/>
                </a:lnTo>
                <a:lnTo>
                  <a:pt x="600858" y="528004"/>
                </a:lnTo>
                <a:lnTo>
                  <a:pt x="0" y="528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500" y="1109857"/>
            <a:ext cx="13663030" cy="2527299"/>
            <a:chOff x="0" y="0"/>
            <a:chExt cx="18217373" cy="33697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389683" y="381000"/>
              <a:ext cx="17827690" cy="298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999"/>
                </a:lnSpc>
              </a:pPr>
              <a:r>
                <a:rPr lang="en-US" b="true" sz="9999" spc="-749">
                  <a:solidFill>
                    <a:srgbClr val="1665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THÀNH</a:t>
              </a:r>
              <a:r>
                <a:rPr lang="en-US" b="true" sz="9999" spc="-749">
                  <a:solidFill>
                    <a:srgbClr val="80D12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 </a:t>
              </a:r>
              <a:r>
                <a:rPr lang="en-US" b="true" sz="9999" spc="-749">
                  <a:solidFill>
                    <a:srgbClr val="2020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VIÊN</a:t>
              </a:r>
            </a:p>
            <a:p>
              <a:pPr algn="just">
                <a:lnSpc>
                  <a:spcPts val="7999"/>
                </a:lnSpc>
              </a:pP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354592"/>
              <a:ext cx="163429" cy="1330322"/>
              <a:chOff x="0" y="0"/>
              <a:chExt cx="32282" cy="2627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2282" cy="262780"/>
              </a:xfrm>
              <a:custGeom>
                <a:avLst/>
                <a:gdLst/>
                <a:ahLst/>
                <a:cxnLst/>
                <a:rect r="r" b="b" t="t" l="l"/>
                <a:pathLst>
                  <a:path h="262780" w="32282">
                    <a:moveTo>
                      <a:pt x="0" y="0"/>
                    </a:moveTo>
                    <a:lnTo>
                      <a:pt x="32282" y="0"/>
                    </a:lnTo>
                    <a:lnTo>
                      <a:pt x="32282" y="262780"/>
                    </a:lnTo>
                    <a:lnTo>
                      <a:pt x="0" y="262780"/>
                    </a:lnTo>
                    <a:close/>
                  </a:path>
                </a:pathLst>
              </a:custGeom>
              <a:solidFill>
                <a:srgbClr val="166534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2282" cy="300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666827" y="-190500"/>
              <a:ext cx="5139050" cy="2214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 spc="-299">
                  <a:solidFill>
                    <a:srgbClr val="1665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NHÓM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211668" y="8463178"/>
            <a:ext cx="2177872" cy="2177872"/>
          </a:xfrm>
          <a:custGeom>
            <a:avLst/>
            <a:gdLst/>
            <a:ahLst/>
            <a:cxnLst/>
            <a:rect r="r" b="b" t="t" l="l"/>
            <a:pathLst>
              <a:path h="2177872" w="2177872">
                <a:moveTo>
                  <a:pt x="0" y="0"/>
                </a:moveTo>
                <a:lnTo>
                  <a:pt x="2177872" y="0"/>
                </a:lnTo>
                <a:lnTo>
                  <a:pt x="2177872" y="2177872"/>
                </a:lnTo>
                <a:lnTo>
                  <a:pt x="0" y="217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35091" y="-1869957"/>
            <a:ext cx="3215341" cy="3215341"/>
          </a:xfrm>
          <a:custGeom>
            <a:avLst/>
            <a:gdLst/>
            <a:ahLst/>
            <a:cxnLst/>
            <a:rect r="r" b="b" t="t" l="l"/>
            <a:pathLst>
              <a:path h="3215341" w="3215341">
                <a:moveTo>
                  <a:pt x="0" y="0"/>
                </a:moveTo>
                <a:lnTo>
                  <a:pt x="3215342" y="0"/>
                </a:lnTo>
                <a:lnTo>
                  <a:pt x="3215342" y="3215341"/>
                </a:lnTo>
                <a:lnTo>
                  <a:pt x="0" y="3215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119549" y="2780764"/>
            <a:ext cx="10048902" cy="5078372"/>
            <a:chOff x="0" y="0"/>
            <a:chExt cx="13398536" cy="677116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31732" y="1020585"/>
              <a:ext cx="5451679" cy="5750577"/>
              <a:chOff x="0" y="0"/>
              <a:chExt cx="774955" cy="81744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74955" cy="817444"/>
              </a:xfrm>
              <a:custGeom>
                <a:avLst/>
                <a:gdLst/>
                <a:ahLst/>
                <a:cxnLst/>
                <a:rect r="r" b="b" t="t" l="l"/>
                <a:pathLst>
                  <a:path h="817444" w="774955">
                    <a:moveTo>
                      <a:pt x="86791" y="0"/>
                    </a:moveTo>
                    <a:lnTo>
                      <a:pt x="688165" y="0"/>
                    </a:lnTo>
                    <a:cubicBezTo>
                      <a:pt x="711183" y="0"/>
                      <a:pt x="733259" y="9144"/>
                      <a:pt x="749535" y="25420"/>
                    </a:cubicBezTo>
                    <a:cubicBezTo>
                      <a:pt x="765811" y="41697"/>
                      <a:pt x="774955" y="63773"/>
                      <a:pt x="774955" y="86791"/>
                    </a:cubicBezTo>
                    <a:lnTo>
                      <a:pt x="774955" y="730653"/>
                    </a:lnTo>
                    <a:cubicBezTo>
                      <a:pt x="774955" y="778586"/>
                      <a:pt x="736098" y="817444"/>
                      <a:pt x="688165" y="817444"/>
                    </a:cubicBezTo>
                    <a:lnTo>
                      <a:pt x="86791" y="817444"/>
                    </a:lnTo>
                    <a:cubicBezTo>
                      <a:pt x="63773" y="817444"/>
                      <a:pt x="41697" y="808300"/>
                      <a:pt x="25420" y="792023"/>
                    </a:cubicBezTo>
                    <a:cubicBezTo>
                      <a:pt x="9144" y="775747"/>
                      <a:pt x="0" y="753671"/>
                      <a:pt x="0" y="730653"/>
                    </a:cubicBezTo>
                    <a:lnTo>
                      <a:pt x="0" y="86791"/>
                    </a:lnTo>
                    <a:cubicBezTo>
                      <a:pt x="0" y="63773"/>
                      <a:pt x="9144" y="41697"/>
                      <a:pt x="25420" y="25420"/>
                    </a:cubicBezTo>
                    <a:cubicBezTo>
                      <a:pt x="41697" y="9144"/>
                      <a:pt x="63773" y="0"/>
                      <a:pt x="86791" y="0"/>
                    </a:cubicBezTo>
                    <a:close/>
                  </a:path>
                </a:pathLst>
              </a:custGeom>
              <a:solidFill>
                <a:srgbClr val="D9FF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74955" cy="8650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66789" y="4986807"/>
              <a:ext cx="4581564" cy="53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7"/>
                </a:lnSpc>
                <a:spcBef>
                  <a:spcPct val="0"/>
                </a:spcBef>
              </a:pPr>
              <a:r>
                <a:rPr lang="en-US" b="true" sz="2788" spc="83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Nguyễn Gia Bảo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335116" y="893735"/>
              <a:ext cx="2781446" cy="3592581"/>
            </a:xfrm>
            <a:custGeom>
              <a:avLst/>
              <a:gdLst/>
              <a:ahLst/>
              <a:cxnLst/>
              <a:rect r="r" b="b" t="t" l="l"/>
              <a:pathLst>
                <a:path h="3592581" w="2781446">
                  <a:moveTo>
                    <a:pt x="0" y="0"/>
                  </a:moveTo>
                  <a:lnTo>
                    <a:pt x="2781446" y="0"/>
                  </a:lnTo>
                  <a:lnTo>
                    <a:pt x="2781446" y="3592581"/>
                  </a:lnTo>
                  <a:lnTo>
                    <a:pt x="0" y="3592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5774431"/>
              <a:ext cx="5451679" cy="75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 spc="-10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23520121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7361329" y="1020585"/>
              <a:ext cx="5451679" cy="5750577"/>
              <a:chOff x="0" y="0"/>
              <a:chExt cx="774955" cy="8174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74955" cy="817444"/>
              </a:xfrm>
              <a:custGeom>
                <a:avLst/>
                <a:gdLst/>
                <a:ahLst/>
                <a:cxnLst/>
                <a:rect r="r" b="b" t="t" l="l"/>
                <a:pathLst>
                  <a:path h="817444" w="774955">
                    <a:moveTo>
                      <a:pt x="86791" y="0"/>
                    </a:moveTo>
                    <a:lnTo>
                      <a:pt x="688165" y="0"/>
                    </a:lnTo>
                    <a:cubicBezTo>
                      <a:pt x="711183" y="0"/>
                      <a:pt x="733259" y="9144"/>
                      <a:pt x="749535" y="25420"/>
                    </a:cubicBezTo>
                    <a:cubicBezTo>
                      <a:pt x="765811" y="41697"/>
                      <a:pt x="774955" y="63773"/>
                      <a:pt x="774955" y="86791"/>
                    </a:cubicBezTo>
                    <a:lnTo>
                      <a:pt x="774955" y="730653"/>
                    </a:lnTo>
                    <a:cubicBezTo>
                      <a:pt x="774955" y="778586"/>
                      <a:pt x="736098" y="817444"/>
                      <a:pt x="688165" y="817444"/>
                    </a:cubicBezTo>
                    <a:lnTo>
                      <a:pt x="86791" y="817444"/>
                    </a:lnTo>
                    <a:cubicBezTo>
                      <a:pt x="63773" y="817444"/>
                      <a:pt x="41697" y="808300"/>
                      <a:pt x="25420" y="792023"/>
                    </a:cubicBezTo>
                    <a:cubicBezTo>
                      <a:pt x="9144" y="775747"/>
                      <a:pt x="0" y="753671"/>
                      <a:pt x="0" y="730653"/>
                    </a:cubicBezTo>
                    <a:lnTo>
                      <a:pt x="0" y="86791"/>
                    </a:lnTo>
                    <a:cubicBezTo>
                      <a:pt x="0" y="63773"/>
                      <a:pt x="9144" y="41697"/>
                      <a:pt x="25420" y="25420"/>
                    </a:cubicBezTo>
                    <a:cubicBezTo>
                      <a:pt x="41697" y="9144"/>
                      <a:pt x="63773" y="0"/>
                      <a:pt x="86791" y="0"/>
                    </a:cubicBezTo>
                    <a:close/>
                  </a:path>
                </a:pathLst>
              </a:custGeom>
              <a:solidFill>
                <a:srgbClr val="D9FF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774955" cy="8650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796387" y="4996332"/>
              <a:ext cx="4581564" cy="526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7"/>
                </a:lnSpc>
                <a:spcBef>
                  <a:spcPct val="0"/>
                </a:spcBef>
              </a:pPr>
              <a:r>
                <a:rPr lang="en-US" b="true" sz="2788" spc="83">
                  <a:solidFill>
                    <a:srgbClr val="166534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Phạm Nhật Khoa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8664714" y="893735"/>
              <a:ext cx="2781446" cy="3592581"/>
            </a:xfrm>
            <a:custGeom>
              <a:avLst/>
              <a:gdLst/>
              <a:ahLst/>
              <a:cxnLst/>
              <a:rect r="r" b="b" t="t" l="l"/>
              <a:pathLst>
                <a:path h="3592581" w="2781446">
                  <a:moveTo>
                    <a:pt x="0" y="0"/>
                  </a:moveTo>
                  <a:lnTo>
                    <a:pt x="2781446" y="0"/>
                  </a:lnTo>
                  <a:lnTo>
                    <a:pt x="2781446" y="3592581"/>
                  </a:lnTo>
                  <a:lnTo>
                    <a:pt x="0" y="3592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7329598" y="5774431"/>
              <a:ext cx="5451679" cy="75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 spc="-10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23520753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11357365" y="0"/>
              <a:ext cx="2041171" cy="2041171"/>
            </a:xfrm>
            <a:custGeom>
              <a:avLst/>
              <a:gdLst/>
              <a:ahLst/>
              <a:cxnLst/>
              <a:rect r="r" b="b" t="t" l="l"/>
              <a:pathLst>
                <a:path h="2041171" w="2041171">
                  <a:moveTo>
                    <a:pt x="0" y="0"/>
                  </a:moveTo>
                  <a:lnTo>
                    <a:pt x="2041171" y="0"/>
                  </a:lnTo>
                  <a:lnTo>
                    <a:pt x="2041171" y="2041171"/>
                  </a:lnTo>
                  <a:lnTo>
                    <a:pt x="0" y="2041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907492" y="0"/>
              <a:ext cx="2041171" cy="2041171"/>
            </a:xfrm>
            <a:custGeom>
              <a:avLst/>
              <a:gdLst/>
              <a:ahLst/>
              <a:cxnLst/>
              <a:rect r="r" b="b" t="t" l="l"/>
              <a:pathLst>
                <a:path h="2041171" w="2041171">
                  <a:moveTo>
                    <a:pt x="0" y="0"/>
                  </a:moveTo>
                  <a:lnTo>
                    <a:pt x="2041171" y="0"/>
                  </a:lnTo>
                  <a:lnTo>
                    <a:pt x="2041171" y="2041171"/>
                  </a:lnTo>
                  <a:lnTo>
                    <a:pt x="0" y="2041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1763723">
            <a:off x="-932898" y="-2271754"/>
            <a:ext cx="2839411" cy="5570674"/>
            <a:chOff x="0" y="0"/>
            <a:chExt cx="406400" cy="7973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910087">
            <a:off x="-896910" y="-196392"/>
            <a:ext cx="4832101" cy="4832101"/>
          </a:xfrm>
          <a:custGeom>
            <a:avLst/>
            <a:gdLst/>
            <a:ahLst/>
            <a:cxnLst/>
            <a:rect r="r" b="b" t="t" l="l"/>
            <a:pathLst>
              <a:path h="4832101" w="4832101">
                <a:moveTo>
                  <a:pt x="0" y="0"/>
                </a:moveTo>
                <a:lnTo>
                  <a:pt x="4832101" y="0"/>
                </a:lnTo>
                <a:lnTo>
                  <a:pt x="4832101" y="4832101"/>
                </a:lnTo>
                <a:lnTo>
                  <a:pt x="0" y="4832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690024">
            <a:off x="13958999" y="5671481"/>
            <a:ext cx="4832101" cy="4832101"/>
          </a:xfrm>
          <a:custGeom>
            <a:avLst/>
            <a:gdLst/>
            <a:ahLst/>
            <a:cxnLst/>
            <a:rect r="r" b="b" t="t" l="l"/>
            <a:pathLst>
              <a:path h="4832101" w="4832101">
                <a:moveTo>
                  <a:pt x="0" y="0"/>
                </a:moveTo>
                <a:lnTo>
                  <a:pt x="4832101" y="0"/>
                </a:lnTo>
                <a:lnTo>
                  <a:pt x="4832101" y="4832101"/>
                </a:lnTo>
                <a:lnTo>
                  <a:pt x="0" y="4832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594338" y="2359915"/>
            <a:ext cx="6974843" cy="7144934"/>
            <a:chOff x="0" y="0"/>
            <a:chExt cx="9299791" cy="95265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441"/>
              <a:ext cx="9265920" cy="9493611"/>
            </a:xfrm>
            <a:custGeom>
              <a:avLst/>
              <a:gdLst/>
              <a:ahLst/>
              <a:cxnLst/>
              <a:rect r="r" b="b" t="t" l="l"/>
              <a:pathLst>
                <a:path h="9493611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493610"/>
                  </a:lnTo>
                  <a:lnTo>
                    <a:pt x="0" y="9493610"/>
                  </a:lnTo>
                  <a:close/>
                </a:path>
              </a:pathLst>
            </a:custGeom>
            <a:solidFill>
              <a:srgbClr val="D9FFB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99701" cy="9526491"/>
            </a:xfrm>
            <a:custGeom>
              <a:avLst/>
              <a:gdLst/>
              <a:ahLst/>
              <a:cxnLst/>
              <a:rect r="r" b="b" t="t" l="l"/>
              <a:pathLst>
                <a:path h="9526491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417"/>
                    <a:pt x="9299701" y="16441"/>
                  </a:cubicBezTo>
                  <a:lnTo>
                    <a:pt x="9299701" y="9510051"/>
                  </a:lnTo>
                  <a:cubicBezTo>
                    <a:pt x="9299701" y="9519198"/>
                    <a:pt x="9292082" y="9526491"/>
                    <a:pt x="9282811" y="9526491"/>
                  </a:cubicBezTo>
                  <a:lnTo>
                    <a:pt x="16891" y="9526491"/>
                  </a:lnTo>
                  <a:cubicBezTo>
                    <a:pt x="7493" y="9526491"/>
                    <a:pt x="0" y="9519075"/>
                    <a:pt x="0" y="9510051"/>
                  </a:cubicBezTo>
                  <a:lnTo>
                    <a:pt x="0" y="16441"/>
                  </a:lnTo>
                  <a:cubicBezTo>
                    <a:pt x="0" y="7417"/>
                    <a:pt x="7620" y="0"/>
                    <a:pt x="16891" y="0"/>
                  </a:cubicBezTo>
                  <a:moveTo>
                    <a:pt x="16891" y="33005"/>
                  </a:moveTo>
                  <a:lnTo>
                    <a:pt x="16891" y="16441"/>
                  </a:lnTo>
                  <a:lnTo>
                    <a:pt x="33909" y="16441"/>
                  </a:lnTo>
                  <a:lnTo>
                    <a:pt x="33909" y="9510051"/>
                  </a:lnTo>
                  <a:lnTo>
                    <a:pt x="16891" y="9510051"/>
                  </a:lnTo>
                  <a:lnTo>
                    <a:pt x="16891" y="9493610"/>
                  </a:lnTo>
                  <a:lnTo>
                    <a:pt x="9282811" y="9493610"/>
                  </a:lnTo>
                  <a:lnTo>
                    <a:pt x="9282811" y="9510051"/>
                  </a:lnTo>
                  <a:lnTo>
                    <a:pt x="9265920" y="9510051"/>
                  </a:lnTo>
                  <a:lnTo>
                    <a:pt x="9265920" y="16441"/>
                  </a:lnTo>
                  <a:lnTo>
                    <a:pt x="9282811" y="16441"/>
                  </a:lnTo>
                  <a:lnTo>
                    <a:pt x="9282811" y="33005"/>
                  </a:lnTo>
                  <a:lnTo>
                    <a:pt x="16891" y="33005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881355" y="2534784"/>
            <a:ext cx="6400800" cy="677966"/>
            <a:chOff x="0" y="0"/>
            <a:chExt cx="8534400" cy="903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34400" cy="903954"/>
            </a:xfrm>
            <a:custGeom>
              <a:avLst/>
              <a:gdLst/>
              <a:ahLst/>
              <a:cxnLst/>
              <a:rect r="r" b="b" t="t" l="l"/>
              <a:pathLst>
                <a:path h="90395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03954"/>
                  </a:lnTo>
                  <a:lnTo>
                    <a:pt x="0" y="903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755" r="0" b="-1311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534400" cy="903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D1B2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Hạn</a:t>
              </a:r>
              <a:r>
                <a:rPr lang="en-US" sz="3399" b="true">
                  <a:solidFill>
                    <a:srgbClr val="0D1B2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chế của bài báo gốc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81355" y="3376266"/>
            <a:ext cx="731520" cy="878535"/>
            <a:chOff x="0" y="0"/>
            <a:chExt cx="975360" cy="11713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" cy="1171380"/>
            </a:xfrm>
            <a:custGeom>
              <a:avLst/>
              <a:gdLst/>
              <a:ahLst/>
              <a:cxnLst/>
              <a:rect r="r" b="b" t="t" l="l"/>
              <a:pathLst>
                <a:path h="11713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171380"/>
                  </a:lnTo>
                  <a:lnTo>
                    <a:pt x="0" y="1171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t="0" r="-110379" b="-40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975360" cy="116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①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12875" y="3513576"/>
            <a:ext cx="5303520" cy="1482450"/>
            <a:chOff x="0" y="0"/>
            <a:chExt cx="7071360" cy="197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1976600"/>
            </a:xfrm>
            <a:custGeom>
              <a:avLst/>
              <a:gdLst/>
              <a:ahLst/>
              <a:cxnLst/>
              <a:rect r="r" b="b" t="t" l="l"/>
              <a:pathLst>
                <a:path h="1976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76600"/>
                  </a:lnTo>
                  <a:lnTo>
                    <a:pt x="0" y="1976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269" r="0" b="68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071360" cy="197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Chi phí API đắt đỏ:</a:t>
              </a: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Fine-tune tốn từ $1.54 đến $12.83, và liên tục phát sinh chi phí khi chạy Inference.</a:t>
              </a:r>
            </a:p>
            <a:p>
              <a:pPr algn="l">
                <a:lnSpc>
                  <a:spcPts val="27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81355" y="4761727"/>
            <a:ext cx="742604" cy="878535"/>
            <a:chOff x="0" y="0"/>
            <a:chExt cx="990138" cy="1171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138" cy="1171380"/>
            </a:xfrm>
            <a:custGeom>
              <a:avLst/>
              <a:gdLst/>
              <a:ahLst/>
              <a:cxnLst/>
              <a:rect r="r" b="b" t="t" l="l"/>
              <a:pathLst>
                <a:path h="1171380" w="990138">
                  <a:moveTo>
                    <a:pt x="0" y="0"/>
                  </a:moveTo>
                  <a:lnTo>
                    <a:pt x="990138" y="0"/>
                  </a:lnTo>
                  <a:lnTo>
                    <a:pt x="990138" y="1171380"/>
                  </a:lnTo>
                  <a:lnTo>
                    <a:pt x="0" y="1171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732" t="0" r="-107239" b="-40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990138" cy="116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②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23959" y="4859837"/>
            <a:ext cx="5383876" cy="1139514"/>
            <a:chOff x="0" y="0"/>
            <a:chExt cx="7178502" cy="15193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78501" cy="1519352"/>
            </a:xfrm>
            <a:custGeom>
              <a:avLst/>
              <a:gdLst/>
              <a:ahLst/>
              <a:cxnLst/>
              <a:rect r="r" b="b" t="t" l="l"/>
              <a:pathLst>
                <a:path h="1519352" w="7178501">
                  <a:moveTo>
                    <a:pt x="0" y="0"/>
                  </a:moveTo>
                  <a:lnTo>
                    <a:pt x="7178501" y="0"/>
                  </a:lnTo>
                  <a:lnTo>
                    <a:pt x="7178501" y="1519352"/>
                  </a:lnTo>
                  <a:lnTo>
                    <a:pt x="0" y="15193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94" r="1492" b="-211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178502" cy="1519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Phụ thuộc n</a:t>
              </a: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ền tảng: </a:t>
              </a: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Không kiểm soát được kiến trúc lõi, không hỗ trợ tối ưu bằng LoRA.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81355" y="6138234"/>
            <a:ext cx="731520" cy="878535"/>
            <a:chOff x="0" y="0"/>
            <a:chExt cx="975360" cy="11713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1171380"/>
            </a:xfrm>
            <a:custGeom>
              <a:avLst/>
              <a:gdLst/>
              <a:ahLst/>
              <a:cxnLst/>
              <a:rect r="r" b="b" t="t" l="l"/>
              <a:pathLst>
                <a:path h="11713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171380"/>
                  </a:lnTo>
                  <a:lnTo>
                    <a:pt x="0" y="1171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t="0" r="-110379" b="-40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975360" cy="116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③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04315" y="6138234"/>
            <a:ext cx="5303520" cy="1482450"/>
            <a:chOff x="0" y="0"/>
            <a:chExt cx="7071360" cy="1976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1360" cy="1976600"/>
            </a:xfrm>
            <a:custGeom>
              <a:avLst/>
              <a:gdLst/>
              <a:ahLst/>
              <a:cxnLst/>
              <a:rect r="r" b="b" t="t" l="l"/>
              <a:pathLst>
                <a:path h="1976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76600"/>
                  </a:lnTo>
                  <a:lnTo>
                    <a:pt x="0" y="1976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269" r="0" b="68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071360" cy="197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Lời khẳng địn</a:t>
              </a: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 từ tác giả:</a:t>
              </a:r>
              <a:r>
                <a:rPr lang="en-US" b="true" sz="2300">
                  <a:solidFill>
                    <a:srgbClr val="2727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"Việc áp dụng kỹ thuật LoRA cho mô hình đóng là không khả thi do rào cản chi phí và phần cứng."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790425" y="7925484"/>
            <a:ext cx="6609083" cy="1242482"/>
            <a:chOff x="0" y="0"/>
            <a:chExt cx="8812111" cy="16566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20351"/>
              <a:ext cx="8778240" cy="1615834"/>
            </a:xfrm>
            <a:custGeom>
              <a:avLst/>
              <a:gdLst/>
              <a:ahLst/>
              <a:cxnLst/>
              <a:rect r="r" b="b" t="t" l="l"/>
              <a:pathLst>
                <a:path h="161583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615834"/>
                  </a:lnTo>
                  <a:lnTo>
                    <a:pt x="0" y="1615834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12022" cy="1656536"/>
            </a:xfrm>
            <a:custGeom>
              <a:avLst/>
              <a:gdLst/>
              <a:ahLst/>
              <a:cxnLst/>
              <a:rect r="r" b="b" t="t" l="l"/>
              <a:pathLst>
                <a:path h="1656536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9181"/>
                    <a:pt x="8812022" y="20351"/>
                  </a:cubicBezTo>
                  <a:lnTo>
                    <a:pt x="8812022" y="1636185"/>
                  </a:lnTo>
                  <a:cubicBezTo>
                    <a:pt x="8812022" y="1647508"/>
                    <a:pt x="8804402" y="1656536"/>
                    <a:pt x="8795131" y="1656536"/>
                  </a:cubicBezTo>
                  <a:lnTo>
                    <a:pt x="16891" y="1656536"/>
                  </a:lnTo>
                  <a:cubicBezTo>
                    <a:pt x="7493" y="1656536"/>
                    <a:pt x="0" y="1647355"/>
                    <a:pt x="0" y="1636185"/>
                  </a:cubicBezTo>
                  <a:lnTo>
                    <a:pt x="0" y="20351"/>
                  </a:lnTo>
                  <a:cubicBezTo>
                    <a:pt x="0" y="9181"/>
                    <a:pt x="7620" y="0"/>
                    <a:pt x="16891" y="0"/>
                  </a:cubicBezTo>
                  <a:moveTo>
                    <a:pt x="16891" y="40855"/>
                  </a:moveTo>
                  <a:lnTo>
                    <a:pt x="16891" y="20351"/>
                  </a:lnTo>
                  <a:lnTo>
                    <a:pt x="33909" y="20351"/>
                  </a:lnTo>
                  <a:lnTo>
                    <a:pt x="33909" y="1636185"/>
                  </a:lnTo>
                  <a:lnTo>
                    <a:pt x="16891" y="1636185"/>
                  </a:lnTo>
                  <a:lnTo>
                    <a:pt x="16891" y="1615834"/>
                  </a:lnTo>
                  <a:lnTo>
                    <a:pt x="8795131" y="1615834"/>
                  </a:lnTo>
                  <a:lnTo>
                    <a:pt x="8795131" y="1636185"/>
                  </a:lnTo>
                  <a:lnTo>
                    <a:pt x="8778240" y="1636185"/>
                  </a:lnTo>
                  <a:lnTo>
                    <a:pt x="8778240" y="20351"/>
                  </a:lnTo>
                  <a:lnTo>
                    <a:pt x="8795131" y="20351"/>
                  </a:lnTo>
                  <a:lnTo>
                    <a:pt x="8795131" y="40855"/>
                  </a:lnTo>
                  <a:lnTo>
                    <a:pt x="16891" y="40855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816839" y="7925484"/>
            <a:ext cx="6582670" cy="1242482"/>
            <a:chOff x="0" y="0"/>
            <a:chExt cx="8759999" cy="16534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59999" cy="1653454"/>
            </a:xfrm>
            <a:custGeom>
              <a:avLst/>
              <a:gdLst/>
              <a:ahLst/>
              <a:cxnLst/>
              <a:rect r="r" b="b" t="t" l="l"/>
              <a:pathLst>
                <a:path h="1653454" w="8759999">
                  <a:moveTo>
                    <a:pt x="0" y="0"/>
                  </a:moveTo>
                  <a:lnTo>
                    <a:pt x="8759999" y="0"/>
                  </a:lnTo>
                  <a:lnTo>
                    <a:pt x="8759999" y="1653454"/>
                  </a:lnTo>
                  <a:lnTo>
                    <a:pt x="0" y="16534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891" r="-208" b="-4400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759999" cy="1653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Liệu các mô hình LLM mã nguồn mở có thể thay thế hiệu quả các mô hình GPT đóng với chi phí bằng 0?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05489" y="1028700"/>
            <a:ext cx="14940052" cy="1331215"/>
            <a:chOff x="0" y="0"/>
            <a:chExt cx="19920069" cy="17749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920069" cy="1774953"/>
            </a:xfrm>
            <a:custGeom>
              <a:avLst/>
              <a:gdLst/>
              <a:ahLst/>
              <a:cxnLst/>
              <a:rect r="r" b="b" t="t" l="l"/>
              <a:pathLst>
                <a:path h="1774953" w="19920069">
                  <a:moveTo>
                    <a:pt x="0" y="0"/>
                  </a:moveTo>
                  <a:lnTo>
                    <a:pt x="19920069" y="0"/>
                  </a:lnTo>
                  <a:lnTo>
                    <a:pt x="19920069" y="1774953"/>
                  </a:lnTo>
                  <a:lnTo>
                    <a:pt x="0" y="1774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265" r="-10168" b="-1855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9920069" cy="1784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016"/>
                </a:lnSpc>
              </a:pPr>
              <a:r>
                <a:rPr lang="en-US" sz="6680" b="true">
                  <a:solidFill>
                    <a:srgbClr val="0D1B2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ĐẶT VẤN ĐỀ &amp; RESEARCH GAP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18" y="2359915"/>
            <a:ext cx="9535163" cy="7144934"/>
            <a:chOff x="0" y="0"/>
            <a:chExt cx="12713551" cy="952657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441"/>
              <a:ext cx="12679681" cy="9493611"/>
            </a:xfrm>
            <a:custGeom>
              <a:avLst/>
              <a:gdLst/>
              <a:ahLst/>
              <a:cxnLst/>
              <a:rect r="r" b="b" t="t" l="l"/>
              <a:pathLst>
                <a:path h="9493611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9493610"/>
                  </a:lnTo>
                  <a:lnTo>
                    <a:pt x="0" y="9493610"/>
                  </a:lnTo>
                  <a:close/>
                </a:path>
              </a:pathLst>
            </a:custGeom>
            <a:solidFill>
              <a:srgbClr val="D9FFB5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13463" cy="9526491"/>
            </a:xfrm>
            <a:custGeom>
              <a:avLst/>
              <a:gdLst/>
              <a:ahLst/>
              <a:cxnLst/>
              <a:rect r="r" b="b" t="t" l="l"/>
              <a:pathLst>
                <a:path h="9526491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417"/>
                    <a:pt x="12713463" y="16441"/>
                  </a:cubicBezTo>
                  <a:lnTo>
                    <a:pt x="12713463" y="9510051"/>
                  </a:lnTo>
                  <a:cubicBezTo>
                    <a:pt x="12713463" y="9519198"/>
                    <a:pt x="12705842" y="9526491"/>
                    <a:pt x="12696572" y="9526491"/>
                  </a:cubicBezTo>
                  <a:lnTo>
                    <a:pt x="16891" y="9526491"/>
                  </a:lnTo>
                  <a:cubicBezTo>
                    <a:pt x="7493" y="9526491"/>
                    <a:pt x="0" y="9519075"/>
                    <a:pt x="0" y="9510051"/>
                  </a:cubicBezTo>
                  <a:lnTo>
                    <a:pt x="0" y="16441"/>
                  </a:lnTo>
                  <a:cubicBezTo>
                    <a:pt x="0" y="7417"/>
                    <a:pt x="7620" y="0"/>
                    <a:pt x="16891" y="0"/>
                  </a:cubicBezTo>
                  <a:moveTo>
                    <a:pt x="16891" y="33005"/>
                  </a:moveTo>
                  <a:lnTo>
                    <a:pt x="16891" y="16441"/>
                  </a:lnTo>
                  <a:lnTo>
                    <a:pt x="33909" y="16441"/>
                  </a:lnTo>
                  <a:lnTo>
                    <a:pt x="33909" y="9510051"/>
                  </a:lnTo>
                  <a:lnTo>
                    <a:pt x="16891" y="9510051"/>
                  </a:lnTo>
                  <a:lnTo>
                    <a:pt x="16891" y="9493610"/>
                  </a:lnTo>
                  <a:lnTo>
                    <a:pt x="12696572" y="9493610"/>
                  </a:lnTo>
                  <a:lnTo>
                    <a:pt x="12696572" y="9510051"/>
                  </a:lnTo>
                  <a:lnTo>
                    <a:pt x="12679680" y="9510051"/>
                  </a:lnTo>
                  <a:lnTo>
                    <a:pt x="12679680" y="16441"/>
                  </a:lnTo>
                  <a:lnTo>
                    <a:pt x="12696572" y="16441"/>
                  </a:lnTo>
                  <a:lnTo>
                    <a:pt x="12696572" y="33005"/>
                  </a:lnTo>
                  <a:lnTo>
                    <a:pt x="16891" y="33005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70" y="4798885"/>
            <a:ext cx="8778240" cy="1234649"/>
            <a:chOff x="0" y="0"/>
            <a:chExt cx="11704320" cy="16461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0" cy="1646199"/>
            </a:xfrm>
            <a:custGeom>
              <a:avLst/>
              <a:gdLst/>
              <a:ahLst/>
              <a:cxnLst/>
              <a:rect r="r" b="b" t="t" l="l"/>
              <a:pathLst>
                <a:path h="1646199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6199"/>
                  </a:lnTo>
                  <a:lnTo>
                    <a:pt x="0" y="16461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50" r="0" b="-1422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1704320" cy="1646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Bối cảnh:</a:t>
              </a:r>
              <a:r>
                <a:rPr lang="en-US" sz="2300" b="true">
                  <a:solidFill>
                    <a:srgbClr val="33415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Phân tích cảm xúc trong tài liệu tài chính giúp nhà đầu tư hiểu rõ phản ứng thị trường. Thách thức lớn nhất là ngôn ngữ chuyên ngành phức tạp.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75" y="2555492"/>
            <a:ext cx="8778240" cy="1740090"/>
            <a:chOff x="0" y="0"/>
            <a:chExt cx="11704320" cy="2320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4320" cy="2320120"/>
            </a:xfrm>
            <a:custGeom>
              <a:avLst/>
              <a:gdLst/>
              <a:ahLst/>
              <a:cxnLst/>
              <a:rect r="r" b="b" t="t" l="l"/>
              <a:pathLst>
                <a:path h="23201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320120"/>
                  </a:lnTo>
                  <a:lnTo>
                    <a:pt x="0" y="232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276" r="0" b="-1931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1704320" cy="232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2727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Fina</a:t>
              </a:r>
              <a:r>
                <a:rPr lang="en-US" sz="3499" b="true">
                  <a:solidFill>
                    <a:srgbClr val="2727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ncial Sentiment Analysis and Classification: A Comparative Study of Fine-Tuned Deep Learning Models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97270" y="6262134"/>
            <a:ext cx="8778240" cy="1234649"/>
            <a:chOff x="0" y="0"/>
            <a:chExt cx="11704320" cy="16461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0" cy="1646199"/>
            </a:xfrm>
            <a:custGeom>
              <a:avLst/>
              <a:gdLst/>
              <a:ahLst/>
              <a:cxnLst/>
              <a:rect r="r" b="b" t="t" l="l"/>
              <a:pathLst>
                <a:path h="1646199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6199"/>
                  </a:lnTo>
                  <a:lnTo>
                    <a:pt x="0" y="16461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50" r="0" b="-1422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1704320" cy="1646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Điểm khởi đầu (Nasiopoulos et al., 2025):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Nghiên cứu gốc chứng minh mô hình GPT-4o (OpenAI) sau khi fine-tuned đạt độ chính xác ấn tượng lên tới 87.79%.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75" y="7725383"/>
            <a:ext cx="8778240" cy="1234649"/>
            <a:chOff x="0" y="0"/>
            <a:chExt cx="11704320" cy="16461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704320" cy="1646199"/>
            </a:xfrm>
            <a:custGeom>
              <a:avLst/>
              <a:gdLst/>
              <a:ahLst/>
              <a:cxnLst/>
              <a:rect r="r" b="b" t="t" l="l"/>
              <a:pathLst>
                <a:path h="1646199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6199"/>
                  </a:lnTo>
                  <a:lnTo>
                    <a:pt x="0" y="16461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50" r="0" b="-1422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704320" cy="1646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66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Vấn đề mô hình cũ: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727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Các mô hình ML truyền thống (SVM, Random Forest) không nắm bắt được ngữ cảnh ẩn sâu.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32610" y="1019175"/>
            <a:ext cx="14303840" cy="97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15"/>
              </a:lnSpc>
              <a:spcBef>
                <a:spcPct val="0"/>
              </a:spcBef>
            </a:pPr>
            <a:r>
              <a:rPr lang="en-US" b="true" sz="6346" spc="228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Câu hỏi </a:t>
            </a:r>
            <a:r>
              <a:rPr lang="en-US" b="true" sz="6346" spc="228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Nghiên cứu &amp; Giải pháp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2980781" y="8733164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2" y="0"/>
                </a:lnTo>
                <a:lnTo>
                  <a:pt x="6488512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132610" y="5382770"/>
            <a:ext cx="16072785" cy="2632565"/>
            <a:chOff x="0" y="0"/>
            <a:chExt cx="21430381" cy="351008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0"/>
              <a:ext cx="19060109" cy="1062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spc="-144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Giải pháp đề xuất của nhóm: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39142"/>
              <a:ext cx="21430381" cy="2370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800"/>
                </a:lnSpc>
                <a:buFont typeface="Arial"/>
                <a:buChar char="•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Fine-tune 3 LLM mở (Llama-3,</a:t>
              </a: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 Qwen-2.5, DeepSeek-R1) bằng kỹ thuật LoRA.</a:t>
              </a:r>
            </a:p>
            <a:p>
              <a:pPr algn="l" marL="690881" indent="-345440" lvl="1">
                <a:lnSpc>
                  <a:spcPts val="4800"/>
                </a:lnSpc>
                <a:buFont typeface="Arial"/>
                <a:buChar char="•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Ứng dụng kiến trúc Big Data (Dask) để xây dựng hệ thống đánh giá mở rộng.</a:t>
              </a:r>
            </a:p>
            <a:p>
              <a:pPr algn="l">
                <a:lnSpc>
                  <a:spcPts val="4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7607" y="3419668"/>
            <a:ext cx="16072785" cy="1296353"/>
            <a:chOff x="0" y="0"/>
            <a:chExt cx="21827744" cy="1760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1839" y="21627"/>
              <a:ext cx="21743846" cy="1717152"/>
            </a:xfrm>
            <a:custGeom>
              <a:avLst/>
              <a:gdLst/>
              <a:ahLst/>
              <a:cxnLst/>
              <a:rect r="r" b="b" t="t" l="l"/>
              <a:pathLst>
                <a:path h="1717152" w="21743846">
                  <a:moveTo>
                    <a:pt x="0" y="0"/>
                  </a:moveTo>
                  <a:lnTo>
                    <a:pt x="21743847" y="0"/>
                  </a:lnTo>
                  <a:lnTo>
                    <a:pt x="21743847" y="1717152"/>
                  </a:lnTo>
                  <a:lnTo>
                    <a:pt x="0" y="1717152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27523" cy="1760406"/>
            </a:xfrm>
            <a:custGeom>
              <a:avLst/>
              <a:gdLst/>
              <a:ahLst/>
              <a:cxnLst/>
              <a:rect r="r" b="b" t="t" l="l"/>
              <a:pathLst>
                <a:path h="1760406" w="21827523">
                  <a:moveTo>
                    <a:pt x="41839" y="0"/>
                  </a:moveTo>
                  <a:lnTo>
                    <a:pt x="21785686" y="0"/>
                  </a:lnTo>
                  <a:cubicBezTo>
                    <a:pt x="21808965" y="0"/>
                    <a:pt x="21827523" y="9757"/>
                    <a:pt x="21827523" y="21627"/>
                  </a:cubicBezTo>
                  <a:lnTo>
                    <a:pt x="21827523" y="1738779"/>
                  </a:lnTo>
                  <a:cubicBezTo>
                    <a:pt x="21827523" y="1750812"/>
                    <a:pt x="21808650" y="1760406"/>
                    <a:pt x="21785686" y="1760406"/>
                  </a:cubicBezTo>
                  <a:lnTo>
                    <a:pt x="41839" y="1760406"/>
                  </a:lnTo>
                  <a:cubicBezTo>
                    <a:pt x="18560" y="1760406"/>
                    <a:pt x="0" y="1750649"/>
                    <a:pt x="0" y="1738779"/>
                  </a:cubicBezTo>
                  <a:lnTo>
                    <a:pt x="0" y="21627"/>
                  </a:lnTo>
                  <a:cubicBezTo>
                    <a:pt x="0" y="9757"/>
                    <a:pt x="18875" y="0"/>
                    <a:pt x="41839" y="0"/>
                  </a:cubicBezTo>
                  <a:moveTo>
                    <a:pt x="41839" y="43417"/>
                  </a:moveTo>
                  <a:lnTo>
                    <a:pt x="41839" y="21627"/>
                  </a:lnTo>
                  <a:lnTo>
                    <a:pt x="83993" y="21627"/>
                  </a:lnTo>
                  <a:lnTo>
                    <a:pt x="83993" y="1738779"/>
                  </a:lnTo>
                  <a:lnTo>
                    <a:pt x="41839" y="1738779"/>
                  </a:lnTo>
                  <a:lnTo>
                    <a:pt x="41839" y="1717152"/>
                  </a:lnTo>
                  <a:lnTo>
                    <a:pt x="21785686" y="1717152"/>
                  </a:lnTo>
                  <a:lnTo>
                    <a:pt x="21785686" y="1738779"/>
                  </a:lnTo>
                  <a:lnTo>
                    <a:pt x="21743846" y="1738779"/>
                  </a:lnTo>
                  <a:lnTo>
                    <a:pt x="21743846" y="21627"/>
                  </a:lnTo>
                  <a:lnTo>
                    <a:pt x="21785686" y="21627"/>
                  </a:lnTo>
                  <a:lnTo>
                    <a:pt x="21785686" y="43417"/>
                  </a:lnTo>
                  <a:lnTo>
                    <a:pt x="41839" y="43417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7607" y="3419668"/>
            <a:ext cx="16072785" cy="1301968"/>
            <a:chOff x="0" y="0"/>
            <a:chExt cx="24124433" cy="19541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24433" cy="1954188"/>
            </a:xfrm>
            <a:custGeom>
              <a:avLst/>
              <a:gdLst/>
              <a:ahLst/>
              <a:cxnLst/>
              <a:rect r="r" b="b" t="t" l="l"/>
              <a:pathLst>
                <a:path h="1954188" w="24124433">
                  <a:moveTo>
                    <a:pt x="0" y="0"/>
                  </a:moveTo>
                  <a:lnTo>
                    <a:pt x="24124433" y="0"/>
                  </a:lnTo>
                  <a:lnTo>
                    <a:pt x="24124433" y="1954188"/>
                  </a:lnTo>
                  <a:lnTo>
                    <a:pt x="0" y="19541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213" r="63612" b="-218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4124433" cy="19541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sz="3699">
                  <a:solidFill>
                    <a:srgbClr val="2020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Liệu các mô hình LLM mã nguồn mở có thể thay thế hiệu quả các mô hình GPT đóng với chi phí bằng 0?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9223" y="3489225"/>
            <a:ext cx="7739196" cy="2748997"/>
            <a:chOff x="0" y="0"/>
            <a:chExt cx="10318928" cy="366533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597248" y="200025"/>
              <a:ext cx="9721680" cy="3465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835"/>
                </a:lnSpc>
              </a:pPr>
              <a:r>
                <a:rPr lang="en-US" b="true" sz="9934" spc="-427">
                  <a:solidFill>
                    <a:srgbClr val="4DBF3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TỔNG</a:t>
              </a:r>
              <a:r>
                <a:rPr lang="en-US" b="true" sz="9934" spc="-427">
                  <a:solidFill>
                    <a:srgbClr val="2020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 QUAN </a:t>
              </a:r>
              <a:r>
                <a:rPr lang="en-US" b="true" sz="9934" spc="-427">
                  <a:solidFill>
                    <a:srgbClr val="80D12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CÁC LLMS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273673"/>
              <a:ext cx="386078" cy="3117983"/>
              <a:chOff x="0" y="0"/>
              <a:chExt cx="73694" cy="59515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3694" cy="595153"/>
              </a:xfrm>
              <a:custGeom>
                <a:avLst/>
                <a:gdLst/>
                <a:ahLst/>
                <a:cxnLst/>
                <a:rect r="r" b="b" t="t" l="l"/>
                <a:pathLst>
                  <a:path h="595153" w="73694">
                    <a:moveTo>
                      <a:pt x="0" y="0"/>
                    </a:moveTo>
                    <a:lnTo>
                      <a:pt x="73694" y="0"/>
                    </a:lnTo>
                    <a:lnTo>
                      <a:pt x="73694" y="595153"/>
                    </a:lnTo>
                    <a:lnTo>
                      <a:pt x="0" y="595153"/>
                    </a:lnTo>
                    <a:close/>
                  </a:path>
                </a:pathLst>
              </a:custGeom>
              <a:solidFill>
                <a:srgbClr val="80D12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3694" cy="6332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9561634" y="2633096"/>
            <a:ext cx="7270079" cy="4461257"/>
            <a:chOff x="0" y="0"/>
            <a:chExt cx="9693439" cy="59483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0"/>
              <a:ext cx="6530936" cy="1062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spc="-144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Gồm 3 Mô Hình: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39142"/>
              <a:ext cx="9693439" cy="4809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800"/>
                </a:lnSpc>
                <a:buFont typeface="Arial"/>
                <a:buChar char="•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Llama-3 8B</a:t>
              </a:r>
            </a:p>
            <a:p>
              <a:pPr algn="l" marL="1381761" indent="-460587" lvl="2">
                <a:lnSpc>
                  <a:spcPts val="4800"/>
                </a:lnSpc>
                <a:buFont typeface="Arial"/>
                <a:buChar char="⚬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Phát triển bởi Meta AI</a:t>
              </a:r>
            </a:p>
            <a:p>
              <a:pPr algn="l" marL="690881" indent="-345440" lvl="1">
                <a:lnSpc>
                  <a:spcPts val="4800"/>
                </a:lnSpc>
                <a:buFont typeface="Arial"/>
                <a:buChar char="•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Qwen-2.5</a:t>
              </a: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 7B</a:t>
              </a:r>
            </a:p>
            <a:p>
              <a:pPr algn="l" marL="1381761" indent="-460587" lvl="2">
                <a:lnSpc>
                  <a:spcPts val="4800"/>
                </a:lnSpc>
                <a:buFont typeface="Arial"/>
                <a:buChar char="⚬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Phát triển bởi Alibaba</a:t>
              </a:r>
            </a:p>
            <a:p>
              <a:pPr algn="l" marL="690881" indent="-345440" lvl="1">
                <a:lnSpc>
                  <a:spcPts val="4800"/>
                </a:lnSpc>
                <a:buFont typeface="Arial"/>
                <a:buChar char="•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DeepSeek-R1</a:t>
              </a:r>
            </a:p>
            <a:p>
              <a:pPr algn="l" marL="1381761" indent="-460587" lvl="2">
                <a:lnSpc>
                  <a:spcPts val="4800"/>
                </a:lnSpc>
                <a:buFont typeface="Arial"/>
                <a:buChar char="⚬"/>
              </a:pP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  <a:r>
                <a:rPr lang="en-US" sz="3200" spc="-96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istill Qwen 7B Reasoning Model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178232"/>
            <a:ext cx="12894409" cy="105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Llama-3 8B (Meta AI)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2980781" y="8733164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2" y="0"/>
                </a:lnTo>
                <a:lnTo>
                  <a:pt x="6488512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602704" y="3191604"/>
            <a:ext cx="14330384" cy="3929530"/>
            <a:chOff x="0" y="0"/>
            <a:chExt cx="19107179" cy="523937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16993862" cy="880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spc="-119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Đặc Điểm Mô hình Llama: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89199"/>
              <a:ext cx="19107179" cy="425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Là mô hình baseline chính của đồ án.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Kiến trúc Transformer với Grouped-Query </a:t>
              </a: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Attention (GQA) giúp tối ưu hóa bộ nhớ GPU.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Điểm mạnh: Cộng đồng mã nguồn mở khổng lồ, hiệu năng dẫn đầu phân khúc 8B, hỗ trợ tối đa từ Hugging Face.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178232"/>
            <a:ext cx="15084943" cy="105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Qwen-2.5 7B (Alibaba Cloud)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2980781" y="8733164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2" y="0"/>
                </a:lnTo>
                <a:lnTo>
                  <a:pt x="6488512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602704" y="3191604"/>
            <a:ext cx="14330384" cy="3929530"/>
            <a:chOff x="0" y="0"/>
            <a:chExt cx="19107179" cy="523937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16993862" cy="880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spc="-119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Đặc Điểm Mô hình Qwen: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89199"/>
              <a:ext cx="19107179" cy="425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Huấn luyện trên &gt;7 nghìn tỷ token đa ngôn ngữ.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Tích hợp các kỹ thuật </a:t>
              </a: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tiên tiến để cải thiện năng lực tuân thủ chỉ thị (instruction-following).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Điểm mạnh: Rất mạnh về xử lý ngữ cảnh dài và văn bản chứa nhiều số liệu phức tạp trong tài chính.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178232"/>
            <a:ext cx="15084943" cy="105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DeepSeek-R1 Distill </a:t>
            </a: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Qwen 7B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2980781" y="8733164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2" y="0"/>
                </a:lnTo>
                <a:lnTo>
                  <a:pt x="6488512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602704" y="3191604"/>
            <a:ext cx="14330384" cy="4577248"/>
            <a:chOff x="0" y="0"/>
            <a:chExt cx="19107179" cy="610299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16993862" cy="880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spc="-119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Đặc Điểm Mô hình DeepSeek-R1: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89199"/>
              <a:ext cx="19107179" cy="5113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Mô hình chuyên suy luận được huấn luyện qua Học tăng cường (Reinforcement Learning).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Đặc điểm độc tô</a:t>
              </a: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n: Sinh ra chuỗi suy nghĩ nội tâm trong thẻ &lt;think&gt; trước khi kết luận.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Cu</a:t>
              </a: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ng cấp tính Minh bạch (Explainability) cho AI, đáp ứng tiêu chuẩn khắt khe của ngành tài chính.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2489" y="3071693"/>
            <a:ext cx="13650813" cy="2088595"/>
            <a:chOff x="0" y="0"/>
            <a:chExt cx="18201084" cy="278479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929523" y="266700"/>
              <a:ext cx="17271561" cy="251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31"/>
                </a:lnSpc>
              </a:pPr>
              <a:r>
                <a:rPr lang="en-US" b="true" sz="13768" spc="-592">
                  <a:solidFill>
                    <a:srgbClr val="4DBF3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KỸ</a:t>
              </a:r>
              <a:r>
                <a:rPr lang="en-US" b="true" sz="13768" spc="-592">
                  <a:solidFill>
                    <a:srgbClr val="2020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 THUẬT </a:t>
              </a:r>
              <a:r>
                <a:rPr lang="en-US" b="true" sz="13768" spc="-592">
                  <a:solidFill>
                    <a:srgbClr val="80D12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LORA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536926"/>
              <a:ext cx="452447" cy="1720673"/>
              <a:chOff x="0" y="0"/>
              <a:chExt cx="62312" cy="23697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2312" cy="236977"/>
              </a:xfrm>
              <a:custGeom>
                <a:avLst/>
                <a:gdLst/>
                <a:ahLst/>
                <a:cxnLst/>
                <a:rect r="r" b="b" t="t" l="l"/>
                <a:pathLst>
                  <a:path h="236977" w="62312">
                    <a:moveTo>
                      <a:pt x="0" y="0"/>
                    </a:moveTo>
                    <a:lnTo>
                      <a:pt x="62312" y="0"/>
                    </a:lnTo>
                    <a:lnTo>
                      <a:pt x="62312" y="236977"/>
                    </a:lnTo>
                    <a:lnTo>
                      <a:pt x="0" y="236977"/>
                    </a:lnTo>
                    <a:close/>
                  </a:path>
                </a:pathLst>
              </a:custGeom>
              <a:solidFill>
                <a:srgbClr val="80D12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2312" cy="275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3131169" y="5802629"/>
            <a:ext cx="11565223" cy="69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79" b="true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Bài toán: Tránh cập nhật hàng tỷ tham số gốc.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637222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Kỹ Thuật 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LoRA (Low-Rank Adaptation)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2980781" y="8733164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2" y="0"/>
                </a:lnTo>
                <a:lnTo>
                  <a:pt x="6488512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340488" y="2521268"/>
            <a:ext cx="15607023" cy="5387378"/>
            <a:chOff x="0" y="0"/>
            <a:chExt cx="20809364" cy="718317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20007015" cy="80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-108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Vấn Đề: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77589"/>
              <a:ext cx="20712856" cy="7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91" indent="-334646" lvl="1">
                <a:lnSpc>
                  <a:spcPts val="4650"/>
                </a:lnSpc>
                <a:buFont typeface="Arial"/>
                <a:buChar char="•"/>
              </a:pP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Huấn luyện toàn bộ 8 tỷ tham số sẽ gây </a:t>
              </a: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tràn VRAM ngay lập tức trên máy chủ Kaggle.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09110"/>
              <a:ext cx="20007015" cy="783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spc="-105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Giải pháp PEFT- LoRA: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740909"/>
              <a:ext cx="20712856" cy="7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91" indent="-334646" lvl="1">
                <a:lnSpc>
                  <a:spcPts val="4650"/>
                </a:lnSpc>
                <a:buFont typeface="Arial"/>
                <a:buChar char="•"/>
              </a:pP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Đóng băng trọng số gốc, bổ sung các ma </a:t>
              </a: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trận low-rank nhỏ vào các lớp Attention.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6508" y="3672430"/>
              <a:ext cx="20007015" cy="783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spc="-105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Lợi ích: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6508" y="4604230"/>
              <a:ext cx="20712856" cy="7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91" indent="-334646" lvl="1">
                <a:lnSpc>
                  <a:spcPts val="4650"/>
                </a:lnSpc>
                <a:buFont typeface="Arial"/>
                <a:buChar char="•"/>
              </a:pP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Giảm tham số huấn luyện (≈</a:t>
              </a: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0.5%), giảm VRAM từ 30GB xuống 8GB.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6508" y="5535750"/>
              <a:ext cx="20007015" cy="783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spc="-105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Cấu hình phần cứng đồ án: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6508" y="6467550"/>
              <a:ext cx="20712856" cy="7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91" indent="-334646" lvl="1">
                <a:lnSpc>
                  <a:spcPts val="4650"/>
                </a:lnSpc>
                <a:buFont typeface="Arial"/>
                <a:buChar char="•"/>
              </a:pP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Rank (r) = 16, Alpha = 16 | Dropout = 0 (Bắt buộc với Unsloth</a:t>
              </a:r>
              <a:r>
                <a:rPr lang="en-US" sz="3100" spc="-9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40488" y="8413239"/>
            <a:ext cx="8241570" cy="46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i="true">
                <a:solidFill>
                  <a:srgbClr val="166534"/>
                </a:solidFill>
                <a:latin typeface="Inter Italics"/>
                <a:ea typeface="Inter Italics"/>
                <a:cs typeface="Inter Italics"/>
                <a:sym typeface="Inter Italics"/>
              </a:rPr>
              <a:t>=&gt; Phù</a:t>
            </a:r>
            <a:r>
              <a:rPr lang="en-US" sz="3099" i="true">
                <a:solidFill>
                  <a:srgbClr val="166534"/>
                </a:solidFill>
                <a:latin typeface="Inter Italics"/>
                <a:ea typeface="Inter Italics"/>
                <a:cs typeface="Inter Italics"/>
                <a:sym typeface="Inter Italics"/>
              </a:rPr>
              <a:t> hợp hoàn hảo với phần cứng Kaggle.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6127" y="2017197"/>
            <a:ext cx="8215294" cy="231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b="true" sz="9000" spc="-387">
                <a:solidFill>
                  <a:srgbClr val="4DBF38"/>
                </a:solidFill>
                <a:latin typeface="TT Hoves Bold"/>
                <a:ea typeface="TT Hoves Bold"/>
                <a:cs typeface="TT Hoves Bold"/>
                <a:sym typeface="TT Hoves Bold"/>
              </a:rPr>
              <a:t>PHƯƠNG</a:t>
            </a:r>
            <a:r>
              <a:rPr lang="en-US" b="true" sz="9000" spc="-387">
                <a:solidFill>
                  <a:srgbClr val="202020"/>
                </a:solidFill>
                <a:latin typeface="TT Hoves Bold"/>
                <a:ea typeface="TT Hoves Bold"/>
                <a:cs typeface="TT Hoves Bold"/>
                <a:sym typeface="TT Hoves Bold"/>
              </a:rPr>
              <a:t> PHÁP</a:t>
            </a:r>
          </a:p>
          <a:p>
            <a:pPr algn="ctr">
              <a:lnSpc>
                <a:spcPts val="8910"/>
              </a:lnSpc>
            </a:pPr>
            <a:r>
              <a:rPr lang="en-US" b="true" sz="9000" spc="-387">
                <a:solidFill>
                  <a:srgbClr val="80D12A"/>
                </a:solidFill>
                <a:latin typeface="TT Hoves Bold"/>
                <a:ea typeface="TT Hoves Bold"/>
                <a:cs typeface="TT Hoves Bold"/>
                <a:sym typeface="TT Hoves Bold"/>
              </a:rPr>
              <a:t>NGHIÊN CỨU 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8600691" y="1413310"/>
            <a:ext cx="234646" cy="7262342"/>
            <a:chOff x="0" y="0"/>
            <a:chExt cx="59718" cy="18482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718" cy="1848290"/>
            </a:xfrm>
            <a:custGeom>
              <a:avLst/>
              <a:gdLst/>
              <a:ahLst/>
              <a:cxnLst/>
              <a:rect r="r" b="b" t="t" l="l"/>
              <a:pathLst>
                <a:path h="1848290" w="59718">
                  <a:moveTo>
                    <a:pt x="0" y="0"/>
                  </a:moveTo>
                  <a:lnTo>
                    <a:pt x="59718" y="0"/>
                  </a:lnTo>
                  <a:lnTo>
                    <a:pt x="59718" y="1848290"/>
                  </a:lnTo>
                  <a:lnTo>
                    <a:pt x="0" y="1848290"/>
                  </a:lnTo>
                  <a:close/>
                </a:path>
              </a:pathLst>
            </a:custGeom>
            <a:solidFill>
              <a:srgbClr val="80D12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718" cy="1886390"/>
            </a:xfrm>
            <a:prstGeom prst="rect">
              <a:avLst/>
            </a:prstGeom>
          </p:spPr>
          <p:txBody>
            <a:bodyPr anchor="ctr" rtlCol="false" tIns="39894" lIns="39894" bIns="39894" rIns="3989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660249" y="5923804"/>
            <a:ext cx="8215294" cy="231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b="true" sz="9000" spc="-386">
                <a:solidFill>
                  <a:srgbClr val="4DBF38"/>
                </a:solidFill>
                <a:latin typeface="TT Hoves Bold"/>
                <a:ea typeface="TT Hoves Bold"/>
                <a:cs typeface="TT Hoves Bold"/>
                <a:sym typeface="TT Hoves Bold"/>
              </a:rPr>
              <a:t>KIẾN</a:t>
            </a:r>
            <a:r>
              <a:rPr lang="en-US" b="true" sz="9000" spc="-386">
                <a:solidFill>
                  <a:srgbClr val="202020"/>
                </a:solidFill>
                <a:latin typeface="TT Hoves Bold"/>
                <a:ea typeface="TT Hoves Bold"/>
                <a:cs typeface="TT Hoves Bold"/>
                <a:sym typeface="TT Hoves Bold"/>
              </a:rPr>
              <a:t> TRÚC</a:t>
            </a:r>
          </a:p>
          <a:p>
            <a:pPr algn="ctr">
              <a:lnSpc>
                <a:spcPts val="8910"/>
              </a:lnSpc>
            </a:pPr>
            <a:r>
              <a:rPr lang="en-US" b="true" sz="9000" spc="-386">
                <a:solidFill>
                  <a:srgbClr val="80D12A"/>
                </a:solidFill>
                <a:latin typeface="TT Hoves Bold"/>
                <a:ea typeface="TT Hoves Bold"/>
                <a:cs typeface="TT Hoves Bold"/>
                <a:sym typeface="TT Hoves Bold"/>
              </a:rPr>
              <a:t>BIG DATA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178232"/>
            <a:ext cx="12894409" cy="105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Chuẩn</a:t>
            </a: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Bị Dữ Liệu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505262" y="5008051"/>
          <a:ext cx="14920588" cy="3047793"/>
        </p:xfrm>
        <a:graphic>
          <a:graphicData uri="http://schemas.openxmlformats.org/drawingml/2006/table">
            <a:tbl>
              <a:tblPr/>
              <a:tblGrid>
                <a:gridCol w="3730147"/>
                <a:gridCol w="3730147"/>
                <a:gridCol w="3730147"/>
                <a:gridCol w="3730147"/>
              </a:tblGrid>
              <a:tr h="7611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Tập Dữ Liệu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Tỉ Lệ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Số Mẫu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Cấu Trúc Nhãn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762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 Set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1.548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class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  <a:tr h="762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Validation Set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class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</a:tr>
              <a:tr h="762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Set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20%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class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602704" y="2610215"/>
            <a:ext cx="14330384" cy="191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5100"/>
              </a:lnSpc>
              <a:buFont typeface="Arial"/>
              <a:buChar char="•"/>
            </a:pPr>
            <a:r>
              <a:rPr lang="en-US" b="true" sz="3400" spc="-102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Nguồn:</a:t>
            </a:r>
            <a:r>
              <a:rPr lang="en-US" sz="3400" spc="-102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FiQA + Financial PhraseBank (Nasiopoulos </a:t>
            </a:r>
            <a:r>
              <a:rPr lang="en-US" sz="3400" spc="-102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et al., 2025).</a:t>
            </a:r>
          </a:p>
          <a:p>
            <a:pPr algn="l" marL="734061" indent="-367031" lvl="1">
              <a:lnSpc>
                <a:spcPts val="5100"/>
              </a:lnSpc>
              <a:buFont typeface="Arial"/>
              <a:buChar char="•"/>
            </a:pPr>
            <a:r>
              <a:rPr lang="en-US" b="true" sz="3400" spc="-102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Dữ liệu gốc: </a:t>
            </a:r>
            <a:r>
              <a:rPr lang="en-US" sz="3400" spc="-102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Bị mất cân bằng nghiêm trọng (53.6% Neutral).</a:t>
            </a:r>
          </a:p>
          <a:p>
            <a:pPr algn="l" marL="734061" indent="-367031" lvl="1">
              <a:lnSpc>
                <a:spcPts val="5100"/>
              </a:lnSpc>
              <a:buFont typeface="Arial"/>
              <a:buChar char="•"/>
            </a:pPr>
            <a:r>
              <a:rPr lang="en-US" b="true" sz="3400" spc="-102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Chiến lược:</a:t>
            </a:r>
            <a:r>
              <a:rPr lang="en-US" sz="3400" spc="-102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Undersampling cân bằng tuyệt đối để chống Majority Bias.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178232"/>
            <a:ext cx="14792994" cy="105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Tiền</a:t>
            </a:r>
            <a:r>
              <a:rPr lang="en-US" b="true" sz="6999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Xử Lý: Khác So Với Bài Báo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98131" y="3187855"/>
            <a:ext cx="6595153" cy="3173799"/>
            <a:chOff x="0" y="0"/>
            <a:chExt cx="8793538" cy="423173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76200"/>
              <a:ext cx="8793538" cy="858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spc="-117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Bài báo gốc: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45181"/>
              <a:ext cx="8793538" cy="3386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Định dạng: JSONL Phân vai (System / User / Assistant).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Bắt</a:t>
              </a: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 buộc khi dùng API đóng của OpenAI.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3187855"/>
            <a:ext cx="8435188" cy="2526081"/>
            <a:chOff x="0" y="0"/>
            <a:chExt cx="11246918" cy="336810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11246918" cy="858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899" spc="-116" b="true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Nhóm thực hiện: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45181"/>
              <a:ext cx="11246918" cy="2522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Định dạng: Alpaca Prompt.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Gộp chung thành 1 chuỗi String.</a:t>
              </a:r>
            </a:p>
            <a:p>
              <a:pPr algn="l" marL="734061" indent="-367031" lvl="1">
                <a:lnSpc>
                  <a:spcPts val="5100"/>
                </a:lnSpc>
                <a:buFont typeface="Arial"/>
                <a:buChar char="•"/>
              </a:pPr>
              <a:r>
                <a:rPr lang="en-US" sz="3400" spc="-102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Tương thích hoàn hảo với mã nguồn mở.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64333" y="6701691"/>
            <a:ext cx="9595278" cy="2556609"/>
            <a:chOff x="0" y="0"/>
            <a:chExt cx="12793704" cy="340881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3118" y="0"/>
              <a:ext cx="12780587" cy="3408812"/>
              <a:chOff x="0" y="0"/>
              <a:chExt cx="2022172" cy="5393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22172" cy="539350"/>
              </a:xfrm>
              <a:custGeom>
                <a:avLst/>
                <a:gdLst/>
                <a:ahLst/>
                <a:cxnLst/>
                <a:rect r="r" b="b" t="t" l="l"/>
                <a:pathLst>
                  <a:path h="539350" w="2022172">
                    <a:moveTo>
                      <a:pt x="10083" y="0"/>
                    </a:moveTo>
                    <a:lnTo>
                      <a:pt x="2012089" y="0"/>
                    </a:lnTo>
                    <a:cubicBezTo>
                      <a:pt x="2014763" y="0"/>
                      <a:pt x="2017328" y="1062"/>
                      <a:pt x="2019219" y="2953"/>
                    </a:cubicBezTo>
                    <a:cubicBezTo>
                      <a:pt x="2021110" y="4844"/>
                      <a:pt x="2022172" y="7409"/>
                      <a:pt x="2022172" y="10083"/>
                    </a:cubicBezTo>
                    <a:lnTo>
                      <a:pt x="2022172" y="529266"/>
                    </a:lnTo>
                    <a:cubicBezTo>
                      <a:pt x="2022172" y="531941"/>
                      <a:pt x="2021110" y="534505"/>
                      <a:pt x="2019219" y="536396"/>
                    </a:cubicBezTo>
                    <a:cubicBezTo>
                      <a:pt x="2017328" y="538287"/>
                      <a:pt x="2014763" y="539350"/>
                      <a:pt x="2012089" y="539350"/>
                    </a:cubicBezTo>
                    <a:lnTo>
                      <a:pt x="10083" y="539350"/>
                    </a:lnTo>
                    <a:cubicBezTo>
                      <a:pt x="7409" y="539350"/>
                      <a:pt x="4844" y="538287"/>
                      <a:pt x="2953" y="536396"/>
                    </a:cubicBezTo>
                    <a:cubicBezTo>
                      <a:pt x="1062" y="534505"/>
                      <a:pt x="0" y="531941"/>
                      <a:pt x="0" y="529266"/>
                    </a:cubicBezTo>
                    <a:lnTo>
                      <a:pt x="0" y="10083"/>
                    </a:lnTo>
                    <a:cubicBezTo>
                      <a:pt x="0" y="7409"/>
                      <a:pt x="1062" y="4844"/>
                      <a:pt x="2953" y="2953"/>
                    </a:cubicBezTo>
                    <a:cubicBezTo>
                      <a:pt x="4844" y="1062"/>
                      <a:pt x="7409" y="0"/>
                      <a:pt x="10083" y="0"/>
                    </a:cubicBezTo>
                    <a:close/>
                  </a:path>
                </a:pathLst>
              </a:custGeom>
              <a:solidFill>
                <a:srgbClr val="16653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022172" cy="577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68115"/>
              <a:ext cx="12780587" cy="577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0"/>
                </a:lnSpc>
                <a:spcBef>
                  <a:spcPct val="0"/>
                </a:spcBef>
              </a:pPr>
              <a:r>
                <a:rPr lang="en-US" b="true" sz="262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Mẫ</a:t>
              </a:r>
              <a:r>
                <a:rPr lang="en-US" b="true" sz="262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 Alpaca Prompt (Nhóm sử dụng)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201203" y="967216"/>
              <a:ext cx="12378181" cy="2216611"/>
              <a:chOff x="0" y="0"/>
              <a:chExt cx="1958507" cy="35073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58507" cy="350738"/>
              </a:xfrm>
              <a:custGeom>
                <a:avLst/>
                <a:gdLst/>
                <a:ahLst/>
                <a:cxnLst/>
                <a:rect r="r" b="b" t="t" l="l"/>
                <a:pathLst>
                  <a:path h="350738" w="1958507">
                    <a:moveTo>
                      <a:pt x="1958507" y="5206"/>
                    </a:moveTo>
                    <a:lnTo>
                      <a:pt x="1958507" y="345532"/>
                    </a:lnTo>
                    <a:cubicBezTo>
                      <a:pt x="1958507" y="346913"/>
                      <a:pt x="1957959" y="348237"/>
                      <a:pt x="1956982" y="349213"/>
                    </a:cubicBezTo>
                    <a:cubicBezTo>
                      <a:pt x="1956006" y="350190"/>
                      <a:pt x="1954682" y="350738"/>
                      <a:pt x="1953302" y="350738"/>
                    </a:cubicBezTo>
                    <a:lnTo>
                      <a:pt x="5206" y="350738"/>
                    </a:lnTo>
                    <a:cubicBezTo>
                      <a:pt x="3825" y="350738"/>
                      <a:pt x="2501" y="350190"/>
                      <a:pt x="1525" y="349213"/>
                    </a:cubicBezTo>
                    <a:cubicBezTo>
                      <a:pt x="548" y="348237"/>
                      <a:pt x="0" y="346913"/>
                      <a:pt x="0" y="345532"/>
                    </a:cubicBezTo>
                    <a:lnTo>
                      <a:pt x="0" y="5206"/>
                    </a:lnTo>
                    <a:cubicBezTo>
                      <a:pt x="0" y="3825"/>
                      <a:pt x="548" y="2501"/>
                      <a:pt x="1525" y="1525"/>
                    </a:cubicBezTo>
                    <a:cubicBezTo>
                      <a:pt x="2501" y="548"/>
                      <a:pt x="3825" y="0"/>
                      <a:pt x="5206" y="0"/>
                    </a:cubicBezTo>
                    <a:lnTo>
                      <a:pt x="1953302" y="0"/>
                    </a:lnTo>
                    <a:cubicBezTo>
                      <a:pt x="1954682" y="0"/>
                      <a:pt x="1956006" y="548"/>
                      <a:pt x="1956982" y="1525"/>
                    </a:cubicBezTo>
                    <a:cubicBezTo>
                      <a:pt x="1957959" y="2501"/>
                      <a:pt x="1958507" y="3825"/>
                      <a:pt x="1958507" y="5206"/>
                    </a:cubicBezTo>
                    <a:close/>
                  </a:path>
                </a:pathLst>
              </a:custGeom>
              <a:solidFill>
                <a:srgbClr val="D9FFB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958507" cy="3888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723622" y="1266732"/>
              <a:ext cx="11333342" cy="1608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34"/>
                </a:lnSpc>
              </a:pPr>
              <a:r>
                <a:rPr lang="en-US" sz="260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### Instruction: You are a financial AI...</a:t>
              </a:r>
            </a:p>
            <a:p>
              <a:pPr algn="l">
                <a:lnSpc>
                  <a:spcPts val="3234"/>
                </a:lnSpc>
              </a:pPr>
              <a:r>
                <a:rPr lang="en-US" sz="260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### Input: Profit margins expanded...</a:t>
              </a:r>
            </a:p>
            <a:p>
              <a:pPr algn="l">
                <a:lnSpc>
                  <a:spcPts val="3234"/>
                </a:lnSpc>
              </a:pPr>
              <a:r>
                <a:rPr lang="en-US" sz="2603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### Response: {"Sentiment": "positive"}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91661"/>
            <a:ext cx="11599005" cy="182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Cấu</a:t>
            </a:r>
            <a:r>
              <a:rPr lang="en-US" sz="6000" b="true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hình Huấn luyện LoRA &amp;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Chiến Lược Tối Ưu Inference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82127" y="3020533"/>
            <a:ext cx="5504752" cy="6653636"/>
            <a:chOff x="0" y="0"/>
            <a:chExt cx="7339670" cy="88715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44394" y="1441825"/>
              <a:ext cx="5943751" cy="7429689"/>
            </a:xfrm>
            <a:custGeom>
              <a:avLst/>
              <a:gdLst/>
              <a:ahLst/>
              <a:cxnLst/>
              <a:rect r="r" b="b" t="t" l="l"/>
              <a:pathLst>
                <a:path h="7429689" w="5943751">
                  <a:moveTo>
                    <a:pt x="0" y="0"/>
                  </a:moveTo>
                  <a:lnTo>
                    <a:pt x="5943751" y="0"/>
                  </a:lnTo>
                  <a:lnTo>
                    <a:pt x="5943751" y="7429689"/>
                  </a:lnTo>
                  <a:lnTo>
                    <a:pt x="0" y="7429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57150"/>
              <a:ext cx="7339670" cy="128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</a:t>
              </a:r>
              <a:r>
                <a:rPr lang="en-US" b="true" sz="2800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inh chỉnh khắt khe để tránh CUDA Out of Memory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3174338"/>
            <a:ext cx="8609443" cy="6083962"/>
            <a:chOff x="0" y="0"/>
            <a:chExt cx="11479257" cy="811194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11479257" cy="128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3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Làm sao để c</a:t>
              </a:r>
              <a:r>
                <a:rPr lang="en-US" b="true" sz="2800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hạy 3 mô hình Khổng lồ trên 1 GPU giới hạn?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315392"/>
              <a:ext cx="11479257" cy="6796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65870" indent="-388623" lvl="2">
                <a:lnSpc>
                  <a:spcPts val="4050"/>
                </a:lnSpc>
                <a:buFont typeface="Arial"/>
                <a:buChar char="⚬"/>
              </a:pPr>
              <a:r>
                <a:rPr lang="en-US" b="true" sz="2700" spc="-81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Suy luận Tuần tự (Sequential GPU):</a:t>
              </a:r>
              <a:r>
                <a:rPr lang="en-US" sz="2700" spc="-81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 Ép buộc giải phóng VRAM. Gọi torch.cuda.empty_cache() </a:t>
              </a:r>
              <a:r>
                <a:rPr lang="en-US" sz="2700" spc="-81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ngay sau khi một mô hình chạy xong.</a:t>
              </a:r>
            </a:p>
            <a:p>
              <a:pPr algn="l" marL="1165870" indent="-388623" lvl="2">
                <a:lnSpc>
                  <a:spcPts val="4050"/>
                </a:lnSpc>
                <a:buFont typeface="Arial"/>
                <a:buChar char="⚬"/>
              </a:pPr>
              <a:r>
                <a:rPr lang="en-US" b="true" sz="2700" spc="-81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Xử</a:t>
              </a:r>
              <a:r>
                <a:rPr lang="en-US" b="true" sz="2700" spc="-81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lý theo lô (Batch Inference): </a:t>
              </a:r>
              <a:r>
                <a:rPr lang="en-US" sz="2700" spc="-81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Gom 16 câu/batch kèm Left Padding → GPU tính toán song song → Đẩy Throughput lên 3.0 câu/s.</a:t>
              </a:r>
            </a:p>
            <a:p>
              <a:pPr algn="l" marL="1165870" indent="-388623" lvl="2">
                <a:lnSpc>
                  <a:spcPts val="4050"/>
                </a:lnSpc>
                <a:buFont typeface="Arial"/>
                <a:buChar char="⚬"/>
              </a:pPr>
              <a:r>
                <a:rPr lang="en-US" b="true" sz="2700" spc="-81">
                  <a:solidFill>
                    <a:srgbClr val="2020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Cấp phát Không gian (Token Allocation):</a:t>
              </a:r>
              <a:r>
                <a:rPr lang="en-US" sz="2700" spc="-81">
                  <a:solidFill>
                    <a:srgbClr val="202020"/>
                  </a:solidFill>
                  <a:latin typeface="Inter"/>
                  <a:ea typeface="Inter"/>
                  <a:cs typeface="Inter"/>
                  <a:sym typeface="Inter"/>
                </a:rPr>
                <a:t> Thiết lập max_new_tokens = 300 dành riêng cho DeepSeek để bảo vệ không gian sinh chuỗi lý luận &lt;think&gt;.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063658" y="4573550"/>
            <a:ext cx="9408475" cy="5292267"/>
          </a:xfrm>
          <a:custGeom>
            <a:avLst/>
            <a:gdLst/>
            <a:ahLst/>
            <a:cxnLst/>
            <a:rect r="r" b="b" t="t" l="l"/>
            <a:pathLst>
              <a:path h="5292267" w="9408475">
                <a:moveTo>
                  <a:pt x="0" y="0"/>
                </a:moveTo>
                <a:lnTo>
                  <a:pt x="9408476" y="0"/>
                </a:lnTo>
                <a:lnTo>
                  <a:pt x="9408476" y="5292268"/>
                </a:lnTo>
                <a:lnTo>
                  <a:pt x="0" y="5292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0094" y="1197300"/>
            <a:ext cx="1702611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Kiến</a:t>
            </a:r>
            <a:r>
              <a:rPr lang="en-US" b="true" sz="66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Trúc Đánh Giá Phân Tán (Dask)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556048"/>
            <a:ext cx="16230600" cy="157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4200"/>
              </a:lnSpc>
              <a:buFont typeface="Arial"/>
              <a:buChar char="•"/>
            </a:pPr>
            <a:r>
              <a:rPr lang="en-US" b="true" sz="2800" spc="-84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Vai trò: </a:t>
            </a:r>
            <a:r>
              <a:rPr lang="en-US" sz="2800" spc="-84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Xử lý đánh giá (Evaluation) các file dự đoán lớn.</a:t>
            </a:r>
          </a:p>
          <a:p>
            <a:pPr algn="l" marL="604524" indent="-302262" lvl="1">
              <a:lnSpc>
                <a:spcPts val="4200"/>
              </a:lnSpc>
              <a:buFont typeface="Arial"/>
              <a:buChar char="•"/>
            </a:pPr>
            <a:r>
              <a:rPr lang="en-US" b="true" sz="2800" spc="-84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Lazy Evaluation:</a:t>
            </a:r>
            <a:r>
              <a:rPr lang="en-US" sz="2800" spc="-84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Không nạp toàn bộ vào RAM. Dask xây dựng Đồ thị tính toán có hướng (DAG).</a:t>
            </a:r>
          </a:p>
          <a:p>
            <a:pPr algn="l" marL="604524" indent="-302262" lvl="1">
              <a:lnSpc>
                <a:spcPts val="4200"/>
              </a:lnSpc>
              <a:buFont typeface="Arial"/>
              <a:buChar char="•"/>
            </a:pPr>
            <a:r>
              <a:rPr lang="en-US" b="true" sz="2800" spc="-84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Partitioning: </a:t>
            </a:r>
            <a:r>
              <a:rPr lang="en-US" sz="2800" spc="-84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Băm nhỏ dữ liệu, xử lý song song trên 4 vCPU Worker.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556048"/>
            <a:ext cx="16230600" cy="104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4200"/>
              </a:lnSpc>
              <a:buFont typeface="Arial"/>
              <a:buChar char="•"/>
            </a:pPr>
            <a:r>
              <a:rPr lang="en-US" b="true" sz="2800" spc="-84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Map:</a:t>
            </a:r>
            <a:r>
              <a:rPr lang="en-US" sz="2800" spc="-84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Worker tự tính Accuracy cục bộ trên phân mảnh của nó.</a:t>
            </a:r>
          </a:p>
          <a:p>
            <a:pPr algn="l" marL="604524" indent="-302262" lvl="1">
              <a:lnSpc>
                <a:spcPts val="4200"/>
              </a:lnSpc>
              <a:buFont typeface="Arial"/>
              <a:buChar char="•"/>
            </a:pPr>
            <a:r>
              <a:rPr lang="en-US" b="true" sz="2800" spc="-84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Reduce:</a:t>
            </a:r>
            <a:r>
              <a:rPr lang="en-US" sz="2800" spc="-84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Lệnh .compute() kích hoạt gom kết quả về node trung tâm tính tổng.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638842" y="3601964"/>
            <a:ext cx="11010316" cy="6096963"/>
          </a:xfrm>
          <a:custGeom>
            <a:avLst/>
            <a:gdLst/>
            <a:ahLst/>
            <a:cxnLst/>
            <a:rect r="r" b="b" t="t" l="l"/>
            <a:pathLst>
              <a:path h="6096963" w="11010316">
                <a:moveTo>
                  <a:pt x="0" y="0"/>
                </a:moveTo>
                <a:lnTo>
                  <a:pt x="11010316" y="0"/>
                </a:lnTo>
                <a:lnTo>
                  <a:pt x="11010316" y="6096963"/>
                </a:lnTo>
                <a:lnTo>
                  <a:pt x="0" y="6096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0094" y="1197300"/>
            <a:ext cx="1702611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Cơ</a:t>
            </a:r>
            <a:r>
              <a:rPr lang="en-US" b="true" sz="66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chế Map-Reduce trong Dask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0184" y="4007327"/>
            <a:ext cx="16047631" cy="171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9"/>
              </a:lnSpc>
            </a:pPr>
            <a:r>
              <a:rPr lang="en-US" b="true" sz="12999" spc="-558">
                <a:solidFill>
                  <a:srgbClr val="4DBF38"/>
                </a:solidFill>
                <a:latin typeface="TT Hoves Bold"/>
                <a:ea typeface="TT Hoves Bold"/>
                <a:cs typeface="TT Hoves Bold"/>
                <a:sym typeface="TT Hoves Bold"/>
              </a:rPr>
              <a:t>KẾT QUẢ</a:t>
            </a:r>
            <a:r>
              <a:rPr lang="en-US" b="true" sz="12999" spc="-558">
                <a:solidFill>
                  <a:srgbClr val="202020"/>
                </a:solidFill>
                <a:latin typeface="TT Hoves Bold"/>
                <a:ea typeface="TT Hoves Bold"/>
                <a:cs typeface="TT Hoves Bold"/>
                <a:sym typeface="TT Hoves Bold"/>
              </a:rPr>
              <a:t> &amp;</a:t>
            </a:r>
            <a:r>
              <a:rPr lang="en-US" b="true" sz="12999" spc="-558">
                <a:solidFill>
                  <a:srgbClr val="80D12A"/>
                </a:solidFill>
                <a:latin typeface="TT Hoves Bold"/>
                <a:ea typeface="TT Hoves Bold"/>
                <a:cs typeface="TT Hoves Bold"/>
                <a:sym typeface="TT Hoves Bold"/>
              </a:rPr>
              <a:t> ĐÁNH GIÁ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9016673" y="-2170823"/>
            <a:ext cx="254654" cy="16047631"/>
            <a:chOff x="0" y="0"/>
            <a:chExt cx="46762" cy="2946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762" cy="2946842"/>
            </a:xfrm>
            <a:custGeom>
              <a:avLst/>
              <a:gdLst/>
              <a:ahLst/>
              <a:cxnLst/>
              <a:rect r="r" b="b" t="t" l="l"/>
              <a:pathLst>
                <a:path h="2946842" w="46762">
                  <a:moveTo>
                    <a:pt x="0" y="0"/>
                  </a:moveTo>
                  <a:lnTo>
                    <a:pt x="46762" y="0"/>
                  </a:lnTo>
                  <a:lnTo>
                    <a:pt x="46762" y="2946842"/>
                  </a:lnTo>
                  <a:lnTo>
                    <a:pt x="0" y="2946842"/>
                  </a:lnTo>
                  <a:close/>
                </a:path>
              </a:pathLst>
            </a:custGeom>
            <a:solidFill>
              <a:srgbClr val="80D12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762" cy="2984942"/>
            </a:xfrm>
            <a:prstGeom prst="rect">
              <a:avLst/>
            </a:prstGeom>
          </p:spPr>
          <p:txBody>
            <a:bodyPr anchor="ctr" rtlCol="false" tIns="55291" lIns="55291" bIns="55291" rIns="552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Hiệu năng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trên Tập Kiểm Thử (Test Set)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472118" y="3873185"/>
          <a:ext cx="14920588" cy="3048620"/>
        </p:xfrm>
        <a:graphic>
          <a:graphicData uri="http://schemas.openxmlformats.org/drawingml/2006/table">
            <a:tbl>
              <a:tblPr/>
              <a:tblGrid>
                <a:gridCol w="2984118"/>
                <a:gridCol w="2984118"/>
                <a:gridCol w="2984118"/>
                <a:gridCol w="2984118"/>
                <a:gridCol w="2984118"/>
              </a:tblGrid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Mô</a:t>
                      </a: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Hình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</a:t>
                      </a: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F1-Score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Llama-3 8B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87.02%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87.10%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87.02%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87.01%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DeepSeek-R1 7B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85.08%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85.22%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85.08%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84.95%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Qwen-2.5 7B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84.88%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84.91%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84.88%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84.83%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3774668" y="7340904"/>
            <a:ext cx="11344941" cy="41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Llama-3 8B chính thức bứt phá, dẫn đầu toàn diện trên cả 4 chỉ số đo lường.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9157" y="2839260"/>
            <a:ext cx="5331023" cy="58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Đánh giá trên 516 mẫu.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Hiệu năng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trên Tập Kiểm Thử (Test Set)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35784" y="2383181"/>
            <a:ext cx="13664224" cy="7224959"/>
          </a:xfrm>
          <a:custGeom>
            <a:avLst/>
            <a:gdLst/>
            <a:ahLst/>
            <a:cxnLst/>
            <a:rect r="r" b="b" t="t" l="l"/>
            <a:pathLst>
              <a:path h="7224959" w="13664224">
                <a:moveTo>
                  <a:pt x="0" y="0"/>
                </a:moveTo>
                <a:lnTo>
                  <a:pt x="13664224" y="0"/>
                </a:lnTo>
                <a:lnTo>
                  <a:pt x="13664224" y="7224958"/>
                </a:lnTo>
                <a:lnTo>
                  <a:pt x="0" y="7224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Thời Gian &amp; Thông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Lượng (Inference)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472118" y="3847627"/>
          <a:ext cx="14920588" cy="3048620"/>
        </p:xfrm>
        <a:graphic>
          <a:graphicData uri="http://schemas.openxmlformats.org/drawingml/2006/table">
            <a:tbl>
              <a:tblPr/>
              <a:tblGrid>
                <a:gridCol w="4973529"/>
                <a:gridCol w="4973529"/>
                <a:gridCol w="4973529"/>
              </a:tblGrid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Mô</a:t>
                      </a:r>
                      <a:r>
                        <a:rPr lang="en-US" b="true" sz="24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Hình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Tổng Thời Gian (s)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Throughput (câu/s)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Llama-3 8B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186.6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3.0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DeepSeek-R1 7B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196.7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376"/>
                    </a:solidFill>
                  </a:tcPr>
                </a:tc>
              </a:tr>
              <a:tr h="762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Qwen-2.5 7B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196.8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B5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3225539" y="7286771"/>
            <a:ext cx="10259835" cy="85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DeepSeek</a:t>
            </a: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 tốn thời gian tính toán hơn do phải sinh thêm hàng trăm token cho chuỗi lý luận bên trong thẻ &lt;think&gt;.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525" y="2839260"/>
            <a:ext cx="12758808" cy="58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3399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hả năng thực thi thực tế trên phần cứng giới hạn (GPU T4):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Chi tiết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Llama-3 8B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04107" y="5665652"/>
            <a:ext cx="6883893" cy="4758491"/>
          </a:xfrm>
          <a:custGeom>
            <a:avLst/>
            <a:gdLst/>
            <a:ahLst/>
            <a:cxnLst/>
            <a:rect r="r" b="b" t="t" l="l"/>
            <a:pathLst>
              <a:path h="4758491" w="6883893">
                <a:moveTo>
                  <a:pt x="0" y="0"/>
                </a:moveTo>
                <a:lnTo>
                  <a:pt x="6883893" y="0"/>
                </a:lnTo>
                <a:lnTo>
                  <a:pt x="6883893" y="4758491"/>
                </a:lnTo>
                <a:lnTo>
                  <a:pt x="0" y="4758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3228" y="2164106"/>
            <a:ext cx="6465662" cy="5737252"/>
          </a:xfrm>
          <a:custGeom>
            <a:avLst/>
            <a:gdLst/>
            <a:ahLst/>
            <a:cxnLst/>
            <a:rect r="r" b="b" t="t" l="l"/>
            <a:pathLst>
              <a:path h="5737252" w="6465662">
                <a:moveTo>
                  <a:pt x="0" y="0"/>
                </a:moveTo>
                <a:lnTo>
                  <a:pt x="6465662" y="0"/>
                </a:lnTo>
                <a:lnTo>
                  <a:pt x="6465662" y="5737251"/>
                </a:lnTo>
                <a:lnTo>
                  <a:pt x="0" y="573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55324" y="2318148"/>
            <a:ext cx="9517027" cy="334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Llama-3</a:t>
            </a: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phân tách rạch ròi cực tốt nhãn Positive và Negative.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Điểm yếu chung: Nhầm lẫn ở nhãn Neutral (Trung lập).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Lý do: Ngôn ngữ tài chính trung lập thường chứa các rủi ro ngầm ẩn rất khó đoán.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Qwen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-2.5 7B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697842" y="5665652"/>
            <a:ext cx="6590158" cy="4621348"/>
          </a:xfrm>
          <a:custGeom>
            <a:avLst/>
            <a:gdLst/>
            <a:ahLst/>
            <a:cxnLst/>
            <a:rect r="r" b="b" t="t" l="l"/>
            <a:pathLst>
              <a:path h="4621348" w="6590158">
                <a:moveTo>
                  <a:pt x="0" y="0"/>
                </a:moveTo>
                <a:lnTo>
                  <a:pt x="6590158" y="0"/>
                </a:lnTo>
                <a:lnTo>
                  <a:pt x="6590158" y="4621348"/>
                </a:lnTo>
                <a:lnTo>
                  <a:pt x="0" y="4621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7782" y="2239074"/>
            <a:ext cx="6465662" cy="5737252"/>
          </a:xfrm>
          <a:custGeom>
            <a:avLst/>
            <a:gdLst/>
            <a:ahLst/>
            <a:cxnLst/>
            <a:rect r="r" b="b" t="t" l="l"/>
            <a:pathLst>
              <a:path h="5737252" w="6465662">
                <a:moveTo>
                  <a:pt x="0" y="0"/>
                </a:moveTo>
                <a:lnTo>
                  <a:pt x="6465661" y="0"/>
                </a:lnTo>
                <a:lnTo>
                  <a:pt x="6465661" y="5737252"/>
                </a:lnTo>
                <a:lnTo>
                  <a:pt x="0" y="5737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78065" y="2318148"/>
            <a:ext cx="11571402" cy="334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Accuracy (84.88%) bám sát Llama-3,</a:t>
            </a: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cho thấy hiệu năng mạnh của mô hình Châu Á.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Tỷ lệ nhầm lẫn giữa Neutral và Positive cao hơn Llama-3.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Lý do tiềm năng: Corpus huấn luyện gốc đa ngôn ngữ (nhiều tiếng Trung), khiến kiến thức tiếng Anh tài chính ít specialized hơn so với họ LLaMA.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97842" y="5665652"/>
            <a:ext cx="6590158" cy="4621348"/>
          </a:xfrm>
          <a:custGeom>
            <a:avLst/>
            <a:gdLst/>
            <a:ahLst/>
            <a:cxnLst/>
            <a:rect r="r" b="b" t="t" l="l"/>
            <a:pathLst>
              <a:path h="4621348" w="6590158">
                <a:moveTo>
                  <a:pt x="0" y="0"/>
                </a:moveTo>
                <a:lnTo>
                  <a:pt x="6590158" y="0"/>
                </a:lnTo>
                <a:lnTo>
                  <a:pt x="6590158" y="4621348"/>
                </a:lnTo>
                <a:lnTo>
                  <a:pt x="0" y="4621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1949" y="2281107"/>
            <a:ext cx="6418293" cy="5695219"/>
          </a:xfrm>
          <a:custGeom>
            <a:avLst/>
            <a:gdLst/>
            <a:ahLst/>
            <a:cxnLst/>
            <a:rect r="r" b="b" t="t" l="l"/>
            <a:pathLst>
              <a:path h="5695219" w="6418293">
                <a:moveTo>
                  <a:pt x="0" y="0"/>
                </a:moveTo>
                <a:lnTo>
                  <a:pt x="6418293" y="0"/>
                </a:lnTo>
                <a:lnTo>
                  <a:pt x="6418293" y="5695219"/>
                </a:lnTo>
                <a:lnTo>
                  <a:pt x="0" y="5695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16598" y="2326031"/>
            <a:ext cx="11571402" cy="22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Đạt Accuracy 85.08%.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Lợ</a:t>
            </a: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i thế độc nhất: Khả năng Giải thích (Explainability).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Minh bạch hóa tư duy AI, rất phù hợp với đạo luật khắt khe như EU AI Act.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DeepSeek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-R1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61636" y="3049931"/>
            <a:ext cx="15997664" cy="3628345"/>
          </a:xfrm>
          <a:custGeom>
            <a:avLst/>
            <a:gdLst/>
            <a:ahLst/>
            <a:cxnLst/>
            <a:rect r="r" b="b" t="t" l="l"/>
            <a:pathLst>
              <a:path h="3628345" w="15997664">
                <a:moveTo>
                  <a:pt x="0" y="0"/>
                </a:moveTo>
                <a:lnTo>
                  <a:pt x="15997664" y="0"/>
                </a:lnTo>
                <a:lnTo>
                  <a:pt x="15997664" y="3628344"/>
                </a:lnTo>
                <a:lnTo>
                  <a:pt x="0" y="362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518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Reasoning Trace (DeepSeek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-R1)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1636" y="7249383"/>
            <a:ext cx="16321393" cy="85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AI</a:t>
            </a: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 tự động tìm ra Keyword ”fell” và ”decrease” để suy ra kết quả.</a:t>
            </a:r>
          </a:p>
          <a:p>
            <a:pPr algn="ctr">
              <a:lnSpc>
                <a:spcPts val="3499"/>
              </a:lnSpc>
            </a:pPr>
            <a:r>
              <a:rPr lang="en-US" sz="2499" i="true" spc="2">
                <a:solidFill>
                  <a:srgbClr val="202020"/>
                </a:solidFill>
                <a:latin typeface="Inter Italics"/>
                <a:ea typeface="Inter Italics"/>
                <a:cs typeface="Inter Italics"/>
                <a:sym typeface="Inter Italics"/>
              </a:rPr>
              <a:t>Khẳng định giá trị thực tiễn: Minh bạch hóa quyết định AI (Explainability), rất quan trọng trong ngành tài chính.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Sánh Đa Chiều Các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LLM</a:t>
            </a:r>
          </a:p>
        </p:txBody>
      </p:sp>
      <p:grpSp>
        <p:nvGrpSpPr>
          <p:cNvPr name="Group 6" id="6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2164106"/>
            <a:ext cx="8817253" cy="8122894"/>
          </a:xfrm>
          <a:custGeom>
            <a:avLst/>
            <a:gdLst/>
            <a:ahLst/>
            <a:cxnLst/>
            <a:rect r="r" b="b" t="t" l="l"/>
            <a:pathLst>
              <a:path h="8122894" w="8817253">
                <a:moveTo>
                  <a:pt x="0" y="0"/>
                </a:moveTo>
                <a:lnTo>
                  <a:pt x="8817253" y="0"/>
                </a:lnTo>
                <a:lnTo>
                  <a:pt x="8817253" y="8122894"/>
                </a:lnTo>
                <a:lnTo>
                  <a:pt x="0" y="8122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005882" y="4130595"/>
            <a:ext cx="9004134" cy="434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600" indent="-268800" lvl="1">
              <a:lnSpc>
                <a:spcPts val="3486"/>
              </a:lnSpc>
              <a:buFont typeface="Arial"/>
              <a:buChar char="•"/>
            </a:pP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Llama-3 8B tạo thành đa giác lớn nhất và</a:t>
            </a: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tròn đều nhất, xác nhận vị trí dẫn đầu toàn diện trên 4 chỉ số học thuật  (Accuracy, Precision, Recall, F1-score).</a:t>
            </a:r>
          </a:p>
          <a:p>
            <a:pPr algn="l">
              <a:lnSpc>
                <a:spcPts val="3486"/>
              </a:lnSpc>
            </a:pPr>
          </a:p>
          <a:p>
            <a:pPr algn="l" marL="537600" indent="-268800" lvl="1">
              <a:lnSpc>
                <a:spcPts val="3486"/>
              </a:lnSpc>
              <a:buFont typeface="Arial"/>
              <a:buChar char="•"/>
            </a:pP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DeepSeek-R1 7B và Qwen-2.5 7B bám sát phía sau, diện tích gần tương đương. DeepSeek nhỉnh hơn một chút ở Precision.</a:t>
            </a:r>
          </a:p>
          <a:p>
            <a:pPr algn="l">
              <a:lnSpc>
                <a:spcPts val="3486"/>
              </a:lnSpc>
            </a:pPr>
          </a:p>
          <a:p>
            <a:pPr algn="l" marL="537600" indent="-268800" lvl="1">
              <a:lnSpc>
                <a:spcPts val="3486"/>
              </a:lnSpc>
              <a:buFont typeface="Arial"/>
              <a:buChar char="•"/>
            </a:pP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Cả 3 mô hình đều đạt hiệu suất phần cứng (Efficiency) rất cao nhờ LoRA 4-bit.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So Sánh SOTA (State of the</a:t>
            </a: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20502" y="2658321"/>
            <a:ext cx="8785380" cy="7094194"/>
          </a:xfrm>
          <a:custGeom>
            <a:avLst/>
            <a:gdLst/>
            <a:ahLst/>
            <a:cxnLst/>
            <a:rect r="r" b="b" t="t" l="l"/>
            <a:pathLst>
              <a:path h="7094194" w="8785380">
                <a:moveTo>
                  <a:pt x="0" y="0"/>
                </a:moveTo>
                <a:lnTo>
                  <a:pt x="8785380" y="0"/>
                </a:lnTo>
                <a:lnTo>
                  <a:pt x="8785380" y="7094195"/>
                </a:lnTo>
                <a:lnTo>
                  <a:pt x="0" y="709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44000" y="2620221"/>
            <a:ext cx="9004134" cy="479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599" indent="-268800" lvl="1">
              <a:lnSpc>
                <a:spcPts val="3486"/>
              </a:lnSpc>
              <a:buFont typeface="Arial"/>
              <a:buChar char="•"/>
            </a:pPr>
            <a:r>
              <a:rPr lang="en-US" b="true" sz="2490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Hiệu năng cao - Chi phí 0:</a:t>
            </a: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Llama-3 8B (87.02%) chỉ kém siêu mô hình GPT-4o vỏ</a:t>
            </a: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n vẹn 0.77%, nhưng tiết kiệm hoàn toàn $13.08 chi phí API.</a:t>
            </a:r>
          </a:p>
          <a:p>
            <a:pPr algn="l">
              <a:lnSpc>
                <a:spcPts val="3486"/>
              </a:lnSpc>
            </a:pPr>
          </a:p>
          <a:p>
            <a:pPr algn="l" marL="537599" indent="-268800" lvl="1">
              <a:lnSpc>
                <a:spcPts val="3486"/>
              </a:lnSpc>
              <a:buFont typeface="Arial"/>
              <a:buChar char="•"/>
            </a:pPr>
            <a:r>
              <a:rPr lang="en-US" b="true" sz="2490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Vượt trội thế hệ cũ:</a:t>
            </a: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LLM mã nguồn mở dễ dàng đánh bại các mô hình Deep Learning chuyên biệt đời cũ như FinBERT (80.04%).</a:t>
            </a:r>
          </a:p>
          <a:p>
            <a:pPr algn="l">
              <a:lnSpc>
                <a:spcPts val="3486"/>
              </a:lnSpc>
            </a:pPr>
          </a:p>
          <a:p>
            <a:pPr algn="l" marL="537599" indent="-268800" lvl="1">
              <a:lnSpc>
                <a:spcPts val="3486"/>
              </a:lnSpc>
              <a:buFont typeface="Arial"/>
              <a:buChar char="•"/>
            </a:pPr>
            <a:r>
              <a:rPr lang="en-US" b="true" sz="2490">
                <a:solidFill>
                  <a:srgbClr val="202020"/>
                </a:solidFill>
                <a:latin typeface="Inter Bold"/>
                <a:ea typeface="Inter Bold"/>
                <a:cs typeface="Inter Bold"/>
                <a:sym typeface="Inter Bold"/>
              </a:rPr>
              <a:t>Khoảng cách vô cực với Traditional ML:</a:t>
            </a:r>
            <a:r>
              <a:rPr lang="en-US" sz="249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SVM (64.53%) kém Llama-3 hơn 22%→ Khẳng định sức mạnh tuyệt đối của Contextual Embeddings trong tài chính.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458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0094" y="1249669"/>
            <a:ext cx="15731575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Kết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1242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135778">
            <a:off x="15805018" y="8805198"/>
            <a:ext cx="4145058" cy="4916643"/>
            <a:chOff x="0" y="0"/>
            <a:chExt cx="1618460" cy="191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8460" cy="195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235778">
            <a:off x="13181595" y="8824685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10800000">
            <a:off x="14034504" y="-2862674"/>
            <a:ext cx="6449593" cy="3224796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48600" y="4236431"/>
            <a:ext cx="16419364" cy="209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09" indent="-575736" lvl="2">
              <a:lnSpc>
                <a:spcPts val="5600"/>
              </a:lnSpc>
              <a:buFont typeface="Arial"/>
              <a:buChar char="⚬"/>
            </a:pPr>
            <a:r>
              <a:rPr lang="en-US" sz="4000" i="true" spc="4">
                <a:solidFill>
                  <a:srgbClr val="2D2C2C"/>
                </a:solidFill>
                <a:latin typeface="Inter Italics"/>
                <a:ea typeface="Inter Italics"/>
                <a:cs typeface="Inter Italics"/>
                <a:sym typeface="Inter Italics"/>
              </a:rPr>
              <a:t>Đồ</a:t>
            </a:r>
            <a:r>
              <a:rPr lang="en-US" sz="4000" i="true" spc="4">
                <a:solidFill>
                  <a:srgbClr val="2D2C2C"/>
                </a:solidFill>
                <a:latin typeface="Inter Italics"/>
                <a:ea typeface="Inter Italics"/>
                <a:cs typeface="Inter Italics"/>
                <a:sym typeface="Inter Italics"/>
              </a:rPr>
              <a:t> án đã lấp đầy  Research Gap.</a:t>
            </a:r>
          </a:p>
          <a:p>
            <a:pPr algn="l" marL="1727209" indent="-575736" lvl="2">
              <a:lnSpc>
                <a:spcPts val="5600"/>
              </a:lnSpc>
              <a:buFont typeface="Arial"/>
              <a:buChar char="⚬"/>
            </a:pPr>
            <a:r>
              <a:rPr lang="en-US" sz="4000" i="true" spc="4">
                <a:solidFill>
                  <a:srgbClr val="2D2C2C"/>
                </a:solidFill>
                <a:latin typeface="Inter Italics"/>
                <a:ea typeface="Inter Italics"/>
                <a:cs typeface="Inter Italics"/>
                <a:sym typeface="Inter Italics"/>
              </a:rPr>
              <a:t>Chứng minh LLM mã nguồn mở + LoRA + Dask là giải pháp tối ưu (Hiệu năng cao, Chi phí $0) cho ngành tài chính.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600" y="3197334"/>
            <a:ext cx="16419364" cy="77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 i="true" spc="4">
                <a:solidFill>
                  <a:srgbClr val="2D2C2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Kết Luận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446278" y="-1685650"/>
            <a:ext cx="6145089" cy="7288971"/>
            <a:chOff x="0" y="0"/>
            <a:chExt cx="1618460" cy="1919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18460" cy="1967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1941502" y="839372"/>
            <a:ext cx="9619282" cy="5963955"/>
          </a:xfrm>
          <a:custGeom>
            <a:avLst/>
            <a:gdLst/>
            <a:ahLst/>
            <a:cxnLst/>
            <a:rect r="r" b="b" t="t" l="l"/>
            <a:pathLst>
              <a:path h="5963955" w="9619282">
                <a:moveTo>
                  <a:pt x="0" y="0"/>
                </a:moveTo>
                <a:lnTo>
                  <a:pt x="9619281" y="0"/>
                </a:lnTo>
                <a:lnTo>
                  <a:pt x="9619281" y="5963955"/>
                </a:lnTo>
                <a:lnTo>
                  <a:pt x="0" y="5963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-3705730" y="5979309"/>
            <a:ext cx="8384369" cy="7537553"/>
            <a:chOff x="0" y="0"/>
            <a:chExt cx="11179159" cy="10050071"/>
          </a:xfrm>
        </p:grpSpPr>
        <p:grpSp>
          <p:nvGrpSpPr>
            <p:cNvPr name="Group 7" id="7"/>
            <p:cNvGrpSpPr/>
            <p:nvPr/>
          </p:nvGrpSpPr>
          <p:grpSpPr>
            <a:xfrm rot="5417627">
              <a:off x="3515167" y="3992166"/>
              <a:ext cx="5526744" cy="6555524"/>
              <a:chOff x="0" y="0"/>
              <a:chExt cx="1618460" cy="191972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18460" cy="1919729"/>
              </a:xfrm>
              <a:custGeom>
                <a:avLst/>
                <a:gdLst/>
                <a:ahLst/>
                <a:cxnLst/>
                <a:rect r="r" b="b" t="t" l="l"/>
                <a:pathLst>
                  <a:path h="1919729" w="1618460">
                    <a:moveTo>
                      <a:pt x="0" y="0"/>
                    </a:moveTo>
                    <a:lnTo>
                      <a:pt x="1618460" y="0"/>
                    </a:lnTo>
                    <a:lnTo>
                      <a:pt x="1618460" y="1919729"/>
                    </a:lnTo>
                    <a:lnTo>
                      <a:pt x="0" y="1919729"/>
                    </a:lnTo>
                    <a:close/>
                  </a:path>
                </a:pathLst>
              </a:custGeom>
              <a:solidFill>
                <a:srgbClr val="052A4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618460" cy="1967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5417627">
              <a:off x="528516" y="1159992"/>
              <a:ext cx="5526744" cy="6555524"/>
              <a:chOff x="0" y="0"/>
              <a:chExt cx="1618460" cy="19197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18460" cy="1919729"/>
              </a:xfrm>
              <a:custGeom>
                <a:avLst/>
                <a:gdLst/>
                <a:ahLst/>
                <a:cxnLst/>
                <a:rect r="r" b="b" t="t" l="l"/>
                <a:pathLst>
                  <a:path h="1919729" w="1618460">
                    <a:moveTo>
                      <a:pt x="0" y="0"/>
                    </a:moveTo>
                    <a:lnTo>
                      <a:pt x="1618460" y="0"/>
                    </a:lnTo>
                    <a:lnTo>
                      <a:pt x="1618460" y="1919729"/>
                    </a:lnTo>
                    <a:lnTo>
                      <a:pt x="0" y="1919729"/>
                    </a:lnTo>
                    <a:close/>
                  </a:path>
                </a:pathLst>
              </a:custGeom>
              <a:solidFill>
                <a:srgbClr val="052A4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618460" cy="1967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-8082372">
              <a:off x="1904393" y="2279093"/>
              <a:ext cx="8651349" cy="5363836"/>
            </a:xfrm>
            <a:custGeom>
              <a:avLst/>
              <a:gdLst/>
              <a:ahLst/>
              <a:cxnLst/>
              <a:rect r="r" b="b" t="t" l="l"/>
              <a:pathLst>
                <a:path h="5363836" w="8651349">
                  <a:moveTo>
                    <a:pt x="0" y="0"/>
                  </a:moveTo>
                  <a:lnTo>
                    <a:pt x="8651349" y="0"/>
                  </a:lnTo>
                  <a:lnTo>
                    <a:pt x="8651349" y="5363836"/>
                  </a:lnTo>
                  <a:lnTo>
                    <a:pt x="0" y="536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514705" y="3718529"/>
            <a:ext cx="328136" cy="2912190"/>
            <a:chOff x="0" y="0"/>
            <a:chExt cx="86423" cy="7669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423" cy="766997"/>
            </a:xfrm>
            <a:custGeom>
              <a:avLst/>
              <a:gdLst/>
              <a:ahLst/>
              <a:cxnLst/>
              <a:rect r="r" b="b" t="t" l="l"/>
              <a:pathLst>
                <a:path h="766997" w="86423">
                  <a:moveTo>
                    <a:pt x="0" y="0"/>
                  </a:moveTo>
                  <a:lnTo>
                    <a:pt x="86423" y="0"/>
                  </a:lnTo>
                  <a:lnTo>
                    <a:pt x="86423" y="766997"/>
                  </a:lnTo>
                  <a:lnTo>
                    <a:pt x="0" y="766997"/>
                  </a:lnTo>
                  <a:close/>
                </a:path>
              </a:pathLst>
            </a:custGeom>
            <a:solidFill>
              <a:srgbClr val="80D12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6423" cy="805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164966" y="3520174"/>
            <a:ext cx="11895071" cy="351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4"/>
              </a:lnSpc>
            </a:pPr>
            <a:r>
              <a:rPr lang="en-US" b="true" sz="13660" spc="-587">
                <a:solidFill>
                  <a:srgbClr val="4DBF38"/>
                </a:solidFill>
                <a:latin typeface="TT Hoves Bold"/>
                <a:ea typeface="TT Hoves Bold"/>
                <a:cs typeface="TT Hoves Bold"/>
                <a:sym typeface="TT Hoves Bold"/>
              </a:rPr>
              <a:t>LET'S</a:t>
            </a:r>
            <a:r>
              <a:rPr lang="en-US" b="true" sz="13660" spc="-587">
                <a:solidFill>
                  <a:srgbClr val="202020"/>
                </a:solidFill>
                <a:latin typeface="TT Hoves Bold"/>
                <a:ea typeface="TT Hoves Bold"/>
                <a:cs typeface="TT Hoves Bold"/>
                <a:sym typeface="TT Hoves Bold"/>
              </a:rPr>
              <a:t> ASK </a:t>
            </a:r>
          </a:p>
          <a:p>
            <a:pPr algn="l">
              <a:lnSpc>
                <a:spcPts val="13524"/>
              </a:lnSpc>
            </a:pPr>
            <a:r>
              <a:rPr lang="en-US" b="true" sz="13660" spc="-587">
                <a:solidFill>
                  <a:srgbClr val="80D12A"/>
                </a:solidFill>
                <a:latin typeface="TT Hoves Bold"/>
                <a:ea typeface="TT Hoves Bold"/>
                <a:cs typeface="TT Hoves Bold"/>
                <a:sym typeface="TT Hoves Bold"/>
              </a:rPr>
              <a:t>A QUESTION!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232716" y="3122770"/>
            <a:ext cx="1191518" cy="1191518"/>
          </a:xfrm>
          <a:custGeom>
            <a:avLst/>
            <a:gdLst/>
            <a:ahLst/>
            <a:cxnLst/>
            <a:rect r="r" b="b" t="t" l="l"/>
            <a:pathLst>
              <a:path h="1191518" w="1191518">
                <a:moveTo>
                  <a:pt x="0" y="0"/>
                </a:moveTo>
                <a:lnTo>
                  <a:pt x="1191518" y="0"/>
                </a:lnTo>
                <a:lnTo>
                  <a:pt x="1191518" y="1191518"/>
                </a:lnTo>
                <a:lnTo>
                  <a:pt x="0" y="1191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61112" y="8630990"/>
            <a:ext cx="3215341" cy="3215341"/>
          </a:xfrm>
          <a:custGeom>
            <a:avLst/>
            <a:gdLst/>
            <a:ahLst/>
            <a:cxnLst/>
            <a:rect r="r" b="b" t="t" l="l"/>
            <a:pathLst>
              <a:path h="3215341" w="3215341">
                <a:moveTo>
                  <a:pt x="0" y="0"/>
                </a:moveTo>
                <a:lnTo>
                  <a:pt x="3215341" y="0"/>
                </a:lnTo>
                <a:lnTo>
                  <a:pt x="3215341" y="3215341"/>
                </a:lnTo>
                <a:lnTo>
                  <a:pt x="0" y="3215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9904319" y="8958603"/>
            <a:ext cx="2656793" cy="2656793"/>
          </a:xfrm>
          <a:custGeom>
            <a:avLst/>
            <a:gdLst/>
            <a:ahLst/>
            <a:cxnLst/>
            <a:rect r="r" b="b" t="t" l="l"/>
            <a:pathLst>
              <a:path h="2656793" w="2656793">
                <a:moveTo>
                  <a:pt x="0" y="0"/>
                </a:moveTo>
                <a:lnTo>
                  <a:pt x="2656793" y="0"/>
                </a:lnTo>
                <a:lnTo>
                  <a:pt x="2656793" y="2656794"/>
                </a:lnTo>
                <a:lnTo>
                  <a:pt x="0" y="2656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70423" y="9381500"/>
            <a:ext cx="2233896" cy="2233896"/>
          </a:xfrm>
          <a:custGeom>
            <a:avLst/>
            <a:gdLst/>
            <a:ahLst/>
            <a:cxnLst/>
            <a:rect r="r" b="b" t="t" l="l"/>
            <a:pathLst>
              <a:path h="2233896" w="2233896">
                <a:moveTo>
                  <a:pt x="0" y="0"/>
                </a:moveTo>
                <a:lnTo>
                  <a:pt x="2233896" y="0"/>
                </a:lnTo>
                <a:lnTo>
                  <a:pt x="2233896" y="2233897"/>
                </a:lnTo>
                <a:lnTo>
                  <a:pt x="0" y="2233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828475" y="3718529"/>
            <a:ext cx="1456095" cy="1456095"/>
          </a:xfrm>
          <a:custGeom>
            <a:avLst/>
            <a:gdLst/>
            <a:ahLst/>
            <a:cxnLst/>
            <a:rect r="r" b="b" t="t" l="l"/>
            <a:pathLst>
              <a:path h="1456095" w="1456095">
                <a:moveTo>
                  <a:pt x="0" y="0"/>
                </a:moveTo>
                <a:lnTo>
                  <a:pt x="1456095" y="0"/>
                </a:lnTo>
                <a:lnTo>
                  <a:pt x="1456095" y="1456095"/>
                </a:lnTo>
                <a:lnTo>
                  <a:pt x="0" y="1456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232716" y="4446577"/>
            <a:ext cx="737497" cy="737497"/>
          </a:xfrm>
          <a:custGeom>
            <a:avLst/>
            <a:gdLst/>
            <a:ahLst/>
            <a:cxnLst/>
            <a:rect r="r" b="b" t="t" l="l"/>
            <a:pathLst>
              <a:path h="737497" w="737497">
                <a:moveTo>
                  <a:pt x="0" y="0"/>
                </a:moveTo>
                <a:lnTo>
                  <a:pt x="737497" y="0"/>
                </a:lnTo>
                <a:lnTo>
                  <a:pt x="737497" y="737497"/>
                </a:lnTo>
                <a:lnTo>
                  <a:pt x="0" y="737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DAHLaR3gAIY</dc:identifier>
  <dcterms:modified xsi:type="dcterms:W3CDTF">2011-08-01T06:04:30Z</dcterms:modified>
  <cp:revision>1</cp:revision>
  <dc:title>IS405.Q23 - Dữ Liệu Lớn</dc:title>
</cp:coreProperties>
</file>